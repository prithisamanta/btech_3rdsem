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01"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45189C-FDCC-47D6-A429-24AA0B0B91ED}" v="92" dt="2026-09-13T04:43:08.466"/>
    <p1510:client id="{5DD8C7E2-5440-4FE9-B668-D31805511CBB}" v="96" dt="2026-09-13T06:11:47.014"/>
    <p1510:client id="{9120875B-4AE8-4B49-94C6-30BF239CEF39}" v="670" dt="2026-09-13T08:50:20.972"/>
    <p1510:client id="{BB51CF0E-7F1D-4B7A-8986-03B1A1F72A29}" v="82" dt="2026-09-13T04:58:48.431"/>
    <p1510:client id="{C2E2F3DB-D80E-45F4-849A-1D95C8E64A40}" v="52" dt="2026-09-13T07:26:08.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9D6F5-A9D4-C22B-732C-A31A172FB93C}"/>
              </a:ext>
            </a:extLst>
          </p:cNvPr>
          <p:cNvSpPr>
            <a:spLocks noGrp="1"/>
          </p:cNvSpPr>
          <p:nvPr>
            <p:ph type="ctrTitle"/>
          </p:nvPr>
        </p:nvSpPr>
        <p:spPr>
          <a:xfrm>
            <a:off x="1524000" y="1122363"/>
            <a:ext cx="9144000" cy="2209393"/>
          </a:xfrm>
        </p:spPr>
        <p:txBody>
          <a:bodyPr anchor="b">
            <a:normAutofit/>
          </a:bodyPr>
          <a:lstStyle>
            <a:lvl1pPr algn="ctr">
              <a:defRPr sz="3600"/>
            </a:lvl1pPr>
          </a:lstStyle>
          <a:p>
            <a:r>
              <a:rPr lang="en-US" dirty="0"/>
              <a:t>Click to edit Master title style</a:t>
            </a:r>
          </a:p>
        </p:txBody>
      </p:sp>
      <p:sp>
        <p:nvSpPr>
          <p:cNvPr id="3" name="Subtitle 2">
            <a:extLst>
              <a:ext uri="{FF2B5EF4-FFF2-40B4-BE49-F238E27FC236}">
                <a16:creationId xmlns:a16="http://schemas.microsoft.com/office/drawing/2014/main" id="{E11AFD6E-3459-290F-1147-F0C47ACEEA5B}"/>
              </a:ext>
            </a:extLst>
          </p:cNvPr>
          <p:cNvSpPr>
            <a:spLocks noGrp="1"/>
          </p:cNvSpPr>
          <p:nvPr>
            <p:ph type="subTitle" idx="1"/>
          </p:nvPr>
        </p:nvSpPr>
        <p:spPr>
          <a:xfrm>
            <a:off x="1524000" y="4346774"/>
            <a:ext cx="9144000" cy="1066890"/>
          </a:xfrm>
        </p:spPr>
        <p:txBody>
          <a:bodyPr anchor="t">
            <a:normAutofit/>
          </a:bodyPr>
          <a:lstStyle>
            <a:lvl1pPr marL="0" indent="0" algn="ctr">
              <a:buNone/>
              <a:defRPr sz="1600" cap="all" spc="300" baseline="0"/>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54674D3-6FB9-5549-B0F2-FD61E82D1FF1}"/>
              </a:ext>
            </a:extLst>
          </p:cNvPr>
          <p:cNvSpPr>
            <a:spLocks noGrp="1"/>
          </p:cNvSpPr>
          <p:nvPr>
            <p:ph type="dt" sz="half" idx="10"/>
          </p:nvPr>
        </p:nvSpPr>
        <p:spPr/>
        <p:txBody>
          <a:bodyPr/>
          <a:lstStyle/>
          <a:p>
            <a:fld id="{807E39B8-A7CB-4B82-AC0C-44B99F546761}" type="datetimeFigureOut">
              <a:rPr lang="en-US" dirty="0"/>
              <a:t>9/13/2026</a:t>
            </a:fld>
            <a:endParaRPr lang="en-US" dirty="0"/>
          </a:p>
        </p:txBody>
      </p:sp>
      <p:sp>
        <p:nvSpPr>
          <p:cNvPr id="5" name="Footer Placeholder 4">
            <a:extLst>
              <a:ext uri="{FF2B5EF4-FFF2-40B4-BE49-F238E27FC236}">
                <a16:creationId xmlns:a16="http://schemas.microsoft.com/office/drawing/2014/main" id="{AB239BBC-C979-2C77-493E-CF5498AEB5D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3813B7E-A51C-D9CD-2189-650A9D63BFF9}"/>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79974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55F0-A6D4-C39B-394F-0B16E9C9CE81}"/>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BD1860F-B260-57CE-E12B-2C94860319E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745C9F-D94D-E5D3-B73A-20621FA536D5}"/>
              </a:ext>
            </a:extLst>
          </p:cNvPr>
          <p:cNvSpPr>
            <a:spLocks noGrp="1"/>
          </p:cNvSpPr>
          <p:nvPr>
            <p:ph type="dt" sz="half" idx="10"/>
          </p:nvPr>
        </p:nvSpPr>
        <p:spPr/>
        <p:txBody>
          <a:bodyPr/>
          <a:lstStyle/>
          <a:p>
            <a:fld id="{FE7E3940-CA92-4FEE-A698-62CF7BC5AC36}" type="datetimeFigureOut">
              <a:rPr lang="en-US" dirty="0"/>
              <a:t>9/13/2026</a:t>
            </a:fld>
            <a:endParaRPr lang="en-US" dirty="0"/>
          </a:p>
        </p:txBody>
      </p:sp>
      <p:sp>
        <p:nvSpPr>
          <p:cNvPr id="5" name="Footer Placeholder 4">
            <a:extLst>
              <a:ext uri="{FF2B5EF4-FFF2-40B4-BE49-F238E27FC236}">
                <a16:creationId xmlns:a16="http://schemas.microsoft.com/office/drawing/2014/main" id="{E5FAB243-BB42-966A-4708-15C9B11D688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5C3A3BD-2CC5-03D3-4CD6-E31A55BA2D2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56469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D8633-AC3B-E617-1C54-84932DDD72E5}"/>
              </a:ext>
            </a:extLst>
          </p:cNvPr>
          <p:cNvSpPr>
            <a:spLocks noGrp="1"/>
          </p:cNvSpPr>
          <p:nvPr>
            <p:ph type="title"/>
          </p:nvPr>
        </p:nvSpPr>
        <p:spPr>
          <a:xfrm>
            <a:off x="1474236" y="1514688"/>
            <a:ext cx="8584164" cy="3138875"/>
          </a:xfrm>
        </p:spPr>
        <p:txBody>
          <a:bodyPr anchor="b">
            <a:normAutofit/>
          </a:bodyPr>
          <a:lstStyle>
            <a:lvl1pPr>
              <a:defRPr sz="3600" cap="all" spc="300" baseline="0"/>
            </a:lvl1pPr>
          </a:lstStyle>
          <a:p>
            <a:r>
              <a:rPr lang="en-US" dirty="0"/>
              <a:t>Click to edit Master title style</a:t>
            </a:r>
          </a:p>
        </p:txBody>
      </p:sp>
      <p:sp>
        <p:nvSpPr>
          <p:cNvPr id="3" name="Text Placeholder 2">
            <a:extLst>
              <a:ext uri="{FF2B5EF4-FFF2-40B4-BE49-F238E27FC236}">
                <a16:creationId xmlns:a16="http://schemas.microsoft.com/office/drawing/2014/main" id="{CF68C242-ECAB-AEC3-7E9B-F9854AF31CD2}"/>
              </a:ext>
            </a:extLst>
          </p:cNvPr>
          <p:cNvSpPr>
            <a:spLocks noGrp="1"/>
          </p:cNvSpPr>
          <p:nvPr>
            <p:ph type="body" idx="1"/>
          </p:nvPr>
        </p:nvSpPr>
        <p:spPr>
          <a:xfrm>
            <a:off x="1474236" y="4963885"/>
            <a:ext cx="8584165" cy="1125765"/>
          </a:xfrm>
        </p:spPr>
        <p:txBody>
          <a:bodyPr>
            <a:normAutofit/>
          </a:bodyPr>
          <a:lstStyle>
            <a:lvl1pPr marL="0" indent="0">
              <a:buNone/>
              <a:defRPr sz="1600" cap="all" spc="300" baseline="0">
                <a:solidFill>
                  <a:schemeClr val="tx2"/>
                </a:solidFill>
              </a:defRPr>
            </a:lvl1pPr>
            <a:lvl2pPr marL="457200" indent="0">
              <a:buNone/>
              <a:defRPr sz="1600">
                <a:solidFill>
                  <a:schemeClr val="tx1">
                    <a:tint val="82000"/>
                  </a:schemeClr>
                </a:solidFill>
              </a:defRPr>
            </a:lvl2pPr>
            <a:lvl3pPr marL="914400" indent="0">
              <a:buNone/>
              <a:defRPr sz="16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20D9B82-EEF4-2CD7-61FE-BAFB2B96D641}"/>
              </a:ext>
            </a:extLst>
          </p:cNvPr>
          <p:cNvSpPr>
            <a:spLocks noGrp="1"/>
          </p:cNvSpPr>
          <p:nvPr>
            <p:ph type="dt" sz="half" idx="10"/>
          </p:nvPr>
        </p:nvSpPr>
        <p:spPr/>
        <p:txBody>
          <a:bodyPr/>
          <a:lstStyle/>
          <a:p>
            <a:fld id="{E33CD641-6C35-45D1-9313-2719E9EA8AD8}" type="datetimeFigureOut">
              <a:rPr lang="en-US" dirty="0"/>
              <a:t>9/13/2026</a:t>
            </a:fld>
            <a:endParaRPr lang="en-US" dirty="0"/>
          </a:p>
        </p:txBody>
      </p:sp>
      <p:sp>
        <p:nvSpPr>
          <p:cNvPr id="5" name="Footer Placeholder 4">
            <a:extLst>
              <a:ext uri="{FF2B5EF4-FFF2-40B4-BE49-F238E27FC236}">
                <a16:creationId xmlns:a16="http://schemas.microsoft.com/office/drawing/2014/main" id="{59A222B6-F7A8-70A5-B023-FCAD5D7C4BB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E85D758-2E38-8A8D-75BC-667F6A23B95B}"/>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1223740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0DFF-11BD-F5F4-35D4-1986ABBD3675}"/>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5D1279-E9A9-702E-144D-61114B788E88}"/>
              </a:ext>
            </a:extLst>
          </p:cNvPr>
          <p:cNvSpPr>
            <a:spLocks noGrp="1"/>
          </p:cNvSpPr>
          <p:nvPr>
            <p:ph sz="half" idx="1"/>
          </p:nvPr>
        </p:nvSpPr>
        <p:spPr>
          <a:xfrm>
            <a:off x="877824" y="2159175"/>
            <a:ext cx="4977453"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1584E624-7A76-56EC-FA0D-E2AA8EF9B951}"/>
              </a:ext>
            </a:extLst>
          </p:cNvPr>
          <p:cNvSpPr>
            <a:spLocks noGrp="1"/>
          </p:cNvSpPr>
          <p:nvPr>
            <p:ph sz="half" idx="2"/>
          </p:nvPr>
        </p:nvSpPr>
        <p:spPr>
          <a:xfrm>
            <a:off x="6328391" y="2159175"/>
            <a:ext cx="4985785" cy="40177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99D7DF5-30AD-AE47-D516-5CEE82770734}"/>
              </a:ext>
            </a:extLst>
          </p:cNvPr>
          <p:cNvSpPr>
            <a:spLocks noGrp="1"/>
          </p:cNvSpPr>
          <p:nvPr>
            <p:ph type="dt" sz="half" idx="10"/>
          </p:nvPr>
        </p:nvSpPr>
        <p:spPr/>
        <p:txBody>
          <a:bodyPr/>
          <a:lstStyle/>
          <a:p>
            <a:fld id="{35301268-3A74-4110-8F08-063DFB8BB885}" type="datetimeFigureOut">
              <a:rPr lang="en-US" dirty="0"/>
              <a:t>9/13/2026</a:t>
            </a:fld>
            <a:endParaRPr lang="en-US" dirty="0"/>
          </a:p>
        </p:txBody>
      </p:sp>
      <p:sp>
        <p:nvSpPr>
          <p:cNvPr id="6" name="Footer Placeholder 5">
            <a:extLst>
              <a:ext uri="{FF2B5EF4-FFF2-40B4-BE49-F238E27FC236}">
                <a16:creationId xmlns:a16="http://schemas.microsoft.com/office/drawing/2014/main" id="{8B05C503-B649-B083-6341-F6E376AF8C7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E53EA35-CF5A-DB36-8B14-5C184B6F14D3}"/>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4217512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A3D8-FDD9-329B-BCC6-BBF47F01BEE2}"/>
              </a:ext>
            </a:extLst>
          </p:cNvPr>
          <p:cNvSpPr>
            <a:spLocks noGrp="1"/>
          </p:cNvSpPr>
          <p:nvPr>
            <p:ph type="title"/>
          </p:nvPr>
        </p:nvSpPr>
        <p:spPr>
          <a:xfrm>
            <a:off x="881348" y="602671"/>
            <a:ext cx="10429303" cy="76892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2EEF7DC-0699-CB3C-A7CB-39035D89A4A5}"/>
              </a:ext>
            </a:extLst>
          </p:cNvPr>
          <p:cNvSpPr>
            <a:spLocks noGrp="1"/>
          </p:cNvSpPr>
          <p:nvPr>
            <p:ph type="body" idx="1"/>
          </p:nvPr>
        </p:nvSpPr>
        <p:spPr>
          <a:xfrm>
            <a:off x="881349" y="1696325"/>
            <a:ext cx="4963538"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52EB40-99E1-CCA4-BAFA-F51AA56CF295}"/>
              </a:ext>
            </a:extLst>
          </p:cNvPr>
          <p:cNvSpPr>
            <a:spLocks noGrp="1"/>
          </p:cNvSpPr>
          <p:nvPr>
            <p:ph sz="half" idx="2"/>
          </p:nvPr>
        </p:nvSpPr>
        <p:spPr>
          <a:xfrm>
            <a:off x="881349" y="2344025"/>
            <a:ext cx="4963538"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38979BC-6B50-751D-D569-F360938B05C8}"/>
              </a:ext>
            </a:extLst>
          </p:cNvPr>
          <p:cNvSpPr>
            <a:spLocks noGrp="1"/>
          </p:cNvSpPr>
          <p:nvPr>
            <p:ph type="body" sz="quarter" idx="3"/>
          </p:nvPr>
        </p:nvSpPr>
        <p:spPr>
          <a:xfrm>
            <a:off x="6322669" y="1696325"/>
            <a:ext cx="4987982" cy="647700"/>
          </a:xfrm>
        </p:spPr>
        <p:txBody>
          <a:bodyPr anchor="b">
            <a:noAutofit/>
          </a:bodyPr>
          <a:lstStyle>
            <a:lvl1pPr marL="0" indent="0">
              <a:buNone/>
              <a:defRPr sz="1400" b="1" cap="all" spc="300" baseline="0"/>
            </a:lvl1pPr>
            <a:lvl2pPr marL="457200" indent="0">
              <a:buNone/>
              <a:defRPr sz="1400" b="1"/>
            </a:lvl2pPr>
            <a:lvl3pPr marL="914400" indent="0">
              <a:buNone/>
              <a:defRPr sz="1400" b="1"/>
            </a:lvl3pPr>
            <a:lvl4pPr marL="1371600" indent="0">
              <a:buNone/>
              <a:defRPr sz="1400" b="1"/>
            </a:lvl4pPr>
            <a:lvl5pPr marL="1828800" indent="0">
              <a:buNone/>
              <a:defRPr sz="1400" b="1"/>
            </a:lvl5pPr>
            <a:lvl6pPr marL="2286000" indent="0">
              <a:buNone/>
              <a:defRPr sz="1400" b="1"/>
            </a:lvl6pPr>
            <a:lvl7pPr marL="2743200" indent="0">
              <a:buNone/>
              <a:defRPr sz="1400" b="1"/>
            </a:lvl7pPr>
            <a:lvl8pPr marL="3200400" indent="0">
              <a:buNone/>
              <a:defRPr sz="1400" b="1"/>
            </a:lvl8pPr>
            <a:lvl9pPr marL="3657600" indent="0">
              <a:buNone/>
              <a:defRPr sz="14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4A3A26F-230E-2D25-6BDC-6ECA00FAEFD5}"/>
              </a:ext>
            </a:extLst>
          </p:cNvPr>
          <p:cNvSpPr>
            <a:spLocks noGrp="1"/>
          </p:cNvSpPr>
          <p:nvPr>
            <p:ph sz="quarter" idx="4"/>
          </p:nvPr>
        </p:nvSpPr>
        <p:spPr>
          <a:xfrm>
            <a:off x="6322669" y="2344025"/>
            <a:ext cx="4987982" cy="383337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8182A01-DE7C-3BA4-96FF-CDEF2F608FCA}"/>
              </a:ext>
            </a:extLst>
          </p:cNvPr>
          <p:cNvSpPr>
            <a:spLocks noGrp="1"/>
          </p:cNvSpPr>
          <p:nvPr>
            <p:ph type="dt" sz="half" idx="10"/>
          </p:nvPr>
        </p:nvSpPr>
        <p:spPr/>
        <p:txBody>
          <a:bodyPr/>
          <a:lstStyle/>
          <a:p>
            <a:fld id="{BF91C1AF-C1FB-48A7-98B4-E595E63F6614}" type="datetimeFigureOut">
              <a:rPr lang="en-US" dirty="0"/>
              <a:t>9/13/2026</a:t>
            </a:fld>
            <a:endParaRPr lang="en-US" dirty="0"/>
          </a:p>
        </p:txBody>
      </p:sp>
      <p:sp>
        <p:nvSpPr>
          <p:cNvPr id="8" name="Footer Placeholder 7">
            <a:extLst>
              <a:ext uri="{FF2B5EF4-FFF2-40B4-BE49-F238E27FC236}">
                <a16:creationId xmlns:a16="http://schemas.microsoft.com/office/drawing/2014/main" id="{6FCAA828-0166-8ECD-BCE8-654BEFDD7155}"/>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7690C0D2-459A-04AA-FD90-7687D2FE8A9D}"/>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7083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549F-FA71-857F-E02E-3CB63CE683E2}"/>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F569611-F911-D3D4-B613-ACCDA56C45D2}"/>
              </a:ext>
            </a:extLst>
          </p:cNvPr>
          <p:cNvSpPr>
            <a:spLocks noGrp="1"/>
          </p:cNvSpPr>
          <p:nvPr>
            <p:ph type="dt" sz="half" idx="10"/>
          </p:nvPr>
        </p:nvSpPr>
        <p:spPr/>
        <p:txBody>
          <a:bodyPr/>
          <a:lstStyle/>
          <a:p>
            <a:fld id="{97144C44-5F8C-4BEA-BBCE-8694F126DC43}" type="datetimeFigureOut">
              <a:rPr lang="en-US" dirty="0"/>
              <a:t>9/13/2026</a:t>
            </a:fld>
            <a:endParaRPr lang="en-US" dirty="0"/>
          </a:p>
        </p:txBody>
      </p:sp>
      <p:sp>
        <p:nvSpPr>
          <p:cNvPr id="4" name="Footer Placeholder 3">
            <a:extLst>
              <a:ext uri="{FF2B5EF4-FFF2-40B4-BE49-F238E27FC236}">
                <a16:creationId xmlns:a16="http://schemas.microsoft.com/office/drawing/2014/main" id="{F6EA1961-0B6B-8FEB-F2CB-C42E90EF2DF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F42AA80E-3139-9F1B-9C3E-2A76628CF4F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535143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54789-9F96-511A-0FB6-24F6A8418C72}"/>
              </a:ext>
            </a:extLst>
          </p:cNvPr>
          <p:cNvSpPr>
            <a:spLocks noGrp="1"/>
          </p:cNvSpPr>
          <p:nvPr>
            <p:ph type="dt" sz="half" idx="10"/>
          </p:nvPr>
        </p:nvSpPr>
        <p:spPr/>
        <p:txBody>
          <a:bodyPr/>
          <a:lstStyle/>
          <a:p>
            <a:fld id="{039E56F9-C8F2-4EF7-8042-704C94FF2795}" type="datetimeFigureOut">
              <a:rPr lang="en-US" dirty="0"/>
              <a:t>9/13/2026</a:t>
            </a:fld>
            <a:endParaRPr lang="en-US" dirty="0"/>
          </a:p>
        </p:txBody>
      </p:sp>
      <p:sp>
        <p:nvSpPr>
          <p:cNvPr id="3" name="Footer Placeholder 2">
            <a:extLst>
              <a:ext uri="{FF2B5EF4-FFF2-40B4-BE49-F238E27FC236}">
                <a16:creationId xmlns:a16="http://schemas.microsoft.com/office/drawing/2014/main" id="{8B780399-ADEF-8F74-9F59-6AD804C9393E}"/>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95B6A34F-ABAB-9C4E-38A1-C6EEB944B97C}"/>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3976362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3917-2BF6-1CE2-F34B-49F0D09A1B91}"/>
              </a:ext>
            </a:extLst>
          </p:cNvPr>
          <p:cNvSpPr>
            <a:spLocks noGrp="1"/>
          </p:cNvSpPr>
          <p:nvPr>
            <p:ph type="title"/>
          </p:nvPr>
        </p:nvSpPr>
        <p:spPr>
          <a:xfrm>
            <a:off x="839788" y="807868"/>
            <a:ext cx="3640713" cy="2062594"/>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40815B8F-A9F3-8583-FFF1-175021F17AF0}"/>
              </a:ext>
            </a:extLst>
          </p:cNvPr>
          <p:cNvSpPr>
            <a:spLocks noGrp="1"/>
          </p:cNvSpPr>
          <p:nvPr>
            <p:ph idx="1"/>
          </p:nvPr>
        </p:nvSpPr>
        <p:spPr>
          <a:xfrm>
            <a:off x="5432898" y="807867"/>
            <a:ext cx="5922489" cy="505318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5D90AFF-A949-CE9E-6B94-C1B619612915}"/>
              </a:ext>
            </a:extLst>
          </p:cNvPr>
          <p:cNvSpPr>
            <a:spLocks noGrp="1"/>
          </p:cNvSpPr>
          <p:nvPr>
            <p:ph type="body" sz="half" idx="2"/>
          </p:nvPr>
        </p:nvSpPr>
        <p:spPr>
          <a:xfrm>
            <a:off x="839788" y="3000652"/>
            <a:ext cx="3640713"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A95267E-088F-FB9A-9469-551890F29F01}"/>
              </a:ext>
            </a:extLst>
          </p:cNvPr>
          <p:cNvSpPr>
            <a:spLocks noGrp="1"/>
          </p:cNvSpPr>
          <p:nvPr>
            <p:ph type="dt" sz="half" idx="10"/>
          </p:nvPr>
        </p:nvSpPr>
        <p:spPr/>
        <p:txBody>
          <a:bodyPr/>
          <a:lstStyle/>
          <a:p>
            <a:fld id="{4F6932DF-953D-44BD-83F8-5D8DA76EA12A}" type="datetimeFigureOut">
              <a:rPr lang="en-US" dirty="0"/>
              <a:t>9/13/2026</a:t>
            </a:fld>
            <a:endParaRPr lang="en-US" dirty="0"/>
          </a:p>
        </p:txBody>
      </p:sp>
      <p:sp>
        <p:nvSpPr>
          <p:cNvPr id="6" name="Footer Placeholder 5">
            <a:extLst>
              <a:ext uri="{FF2B5EF4-FFF2-40B4-BE49-F238E27FC236}">
                <a16:creationId xmlns:a16="http://schemas.microsoft.com/office/drawing/2014/main" id="{38EA3FFC-B3A6-C0B6-5DAE-70BE0D6FBD69}"/>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08D35F-BC2E-8D14-060F-449CBAF7C0D2}"/>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93333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909ED-ED97-A3CE-5569-77B45F41450A}"/>
              </a:ext>
            </a:extLst>
          </p:cNvPr>
          <p:cNvSpPr>
            <a:spLocks noGrp="1"/>
          </p:cNvSpPr>
          <p:nvPr>
            <p:ph type="title"/>
          </p:nvPr>
        </p:nvSpPr>
        <p:spPr>
          <a:xfrm>
            <a:off x="839788" y="820881"/>
            <a:ext cx="3639312" cy="2062595"/>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0683BB3A-9E24-DE4C-9619-1502F1B6F389}"/>
              </a:ext>
            </a:extLst>
          </p:cNvPr>
          <p:cNvSpPr>
            <a:spLocks noGrp="1" noChangeAspect="1"/>
          </p:cNvSpPr>
          <p:nvPr>
            <p:ph type="pic" idx="1"/>
          </p:nvPr>
        </p:nvSpPr>
        <p:spPr>
          <a:xfrm>
            <a:off x="5247408" y="919595"/>
            <a:ext cx="6107979" cy="501361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4B4CE1F-29E0-88BB-8489-E58236B8B17B}"/>
              </a:ext>
            </a:extLst>
          </p:cNvPr>
          <p:cNvSpPr>
            <a:spLocks noGrp="1"/>
          </p:cNvSpPr>
          <p:nvPr>
            <p:ph type="body" sz="half" idx="2"/>
          </p:nvPr>
        </p:nvSpPr>
        <p:spPr>
          <a:xfrm>
            <a:off x="839788" y="3000652"/>
            <a:ext cx="3643889" cy="28683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24B7212-6816-FFD1-50B2-58844AD38E26}"/>
              </a:ext>
            </a:extLst>
          </p:cNvPr>
          <p:cNvSpPr>
            <a:spLocks noGrp="1"/>
          </p:cNvSpPr>
          <p:nvPr>
            <p:ph type="dt" sz="half" idx="10"/>
          </p:nvPr>
        </p:nvSpPr>
        <p:spPr/>
        <p:txBody>
          <a:bodyPr/>
          <a:lstStyle/>
          <a:p>
            <a:fld id="{352F326D-65F4-4B2F-9A62-9E4BD9402C47}" type="datetimeFigureOut">
              <a:rPr lang="en-US" dirty="0"/>
              <a:t>9/13/2026</a:t>
            </a:fld>
            <a:endParaRPr lang="en-US" dirty="0"/>
          </a:p>
        </p:txBody>
      </p:sp>
      <p:sp>
        <p:nvSpPr>
          <p:cNvPr id="6" name="Footer Placeholder 5">
            <a:extLst>
              <a:ext uri="{FF2B5EF4-FFF2-40B4-BE49-F238E27FC236}">
                <a16:creationId xmlns:a16="http://schemas.microsoft.com/office/drawing/2014/main" id="{A2417744-5A24-B7B7-5FD6-E98E60832F2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14CDA4D1-A71D-A7A6-3D0C-294E5D280BE8}"/>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424622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90AE-F72C-4C2E-E2D0-7A8D7EEF08C1}"/>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F41B46D-142E-8C8E-C4F4-B6B1586A6FD0}"/>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54D92E3-36AD-2615-0166-6B73C34F10FA}"/>
              </a:ext>
            </a:extLst>
          </p:cNvPr>
          <p:cNvSpPr>
            <a:spLocks noGrp="1"/>
          </p:cNvSpPr>
          <p:nvPr>
            <p:ph type="dt" sz="half" idx="10"/>
          </p:nvPr>
        </p:nvSpPr>
        <p:spPr/>
        <p:txBody>
          <a:bodyPr/>
          <a:lstStyle/>
          <a:p>
            <a:fld id="{01742F6F-0846-489A-A4BC-61B476BE2887}" type="datetimeFigureOut">
              <a:rPr lang="en-US" dirty="0"/>
              <a:t>9/13/2026</a:t>
            </a:fld>
            <a:endParaRPr lang="en-US" dirty="0"/>
          </a:p>
        </p:txBody>
      </p:sp>
      <p:sp>
        <p:nvSpPr>
          <p:cNvPr id="5" name="Footer Placeholder 4">
            <a:extLst>
              <a:ext uri="{FF2B5EF4-FFF2-40B4-BE49-F238E27FC236}">
                <a16:creationId xmlns:a16="http://schemas.microsoft.com/office/drawing/2014/main" id="{F10BFB69-319D-2284-2734-217160D396D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A6883B0-C775-5BD2-8EC6-A41D19BCA156}"/>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807227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040463-6D41-8D45-088A-540B0D18838A}"/>
              </a:ext>
            </a:extLst>
          </p:cNvPr>
          <p:cNvSpPr>
            <a:spLocks noGrp="1"/>
          </p:cNvSpPr>
          <p:nvPr>
            <p:ph type="title" orient="vert"/>
          </p:nvPr>
        </p:nvSpPr>
        <p:spPr>
          <a:xfrm>
            <a:off x="8724900" y="592281"/>
            <a:ext cx="2628900" cy="558468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8B5F2276-7F04-F3F7-E3CE-F81C8DC637DC}"/>
              </a:ext>
            </a:extLst>
          </p:cNvPr>
          <p:cNvSpPr>
            <a:spLocks noGrp="1"/>
          </p:cNvSpPr>
          <p:nvPr>
            <p:ph type="body" orient="vert" idx="1"/>
          </p:nvPr>
        </p:nvSpPr>
        <p:spPr>
          <a:xfrm>
            <a:off x="838200" y="592281"/>
            <a:ext cx="7734300" cy="558468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71802BF-9E0C-3251-8FAE-81F07DB05344}"/>
              </a:ext>
            </a:extLst>
          </p:cNvPr>
          <p:cNvSpPr>
            <a:spLocks noGrp="1"/>
          </p:cNvSpPr>
          <p:nvPr>
            <p:ph type="dt" sz="half" idx="10"/>
          </p:nvPr>
        </p:nvSpPr>
        <p:spPr/>
        <p:txBody>
          <a:bodyPr/>
          <a:lstStyle/>
          <a:p>
            <a:fld id="{B229DF21-A340-467A-94AB-9502647BB771}" type="datetimeFigureOut">
              <a:rPr lang="en-US" dirty="0"/>
              <a:t>9/13/2026</a:t>
            </a:fld>
            <a:endParaRPr lang="en-US" dirty="0"/>
          </a:p>
        </p:txBody>
      </p:sp>
      <p:sp>
        <p:nvSpPr>
          <p:cNvPr id="5" name="Footer Placeholder 4">
            <a:extLst>
              <a:ext uri="{FF2B5EF4-FFF2-40B4-BE49-F238E27FC236}">
                <a16:creationId xmlns:a16="http://schemas.microsoft.com/office/drawing/2014/main" id="{329F1754-5B8F-A9FA-E8B1-06E04CE283D5}"/>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F01E6A8-5139-ECD4-CC0C-32FFC6741000}"/>
              </a:ext>
            </a:extLst>
          </p:cNvPr>
          <p:cNvSpPr>
            <a:spLocks noGrp="1"/>
          </p:cNvSpPr>
          <p:nvPr>
            <p:ph type="sldNum" sz="quarter" idx="12"/>
          </p:nvPr>
        </p:nvSpPr>
        <p:spPr/>
        <p:txBody>
          <a:bodyPr/>
          <a:lstStyle/>
          <a:p>
            <a:fld id="{5E4DE196-8A13-4FF7-A07E-102851959EAB}" type="slidenum">
              <a:rPr lang="en-US" dirty="0"/>
              <a:t>‹#›</a:t>
            </a:fld>
            <a:endParaRPr lang="en-US" dirty="0"/>
          </a:p>
        </p:txBody>
      </p:sp>
    </p:spTree>
    <p:extLst>
      <p:ext uri="{BB962C8B-B14F-4D97-AF65-F5344CB8AC3E}">
        <p14:creationId xmlns:p14="http://schemas.microsoft.com/office/powerpoint/2010/main" val="265693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858A62-FE72-978B-BE71-05908D82E1A4}"/>
              </a:ext>
            </a:extLst>
          </p:cNvPr>
          <p:cNvSpPr/>
          <p:nvPr/>
        </p:nvSpPr>
        <p:spPr>
          <a:xfrm>
            <a:off x="0" y="0"/>
            <a:ext cx="12192000" cy="6860161"/>
          </a:xfrm>
          <a:prstGeom prst="rect">
            <a:avLst/>
          </a:prstGeom>
          <a:solidFill>
            <a:schemeClr val="bg2">
              <a:lumMod val="75000"/>
              <a:alpha val="1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5BFA14B7-4740-5D9F-6489-BAD00C3E0D68}"/>
              </a:ext>
            </a:extLst>
          </p:cNvPr>
          <p:cNvSpPr>
            <a:spLocks noGrp="1"/>
          </p:cNvSpPr>
          <p:nvPr>
            <p:ph type="title"/>
          </p:nvPr>
        </p:nvSpPr>
        <p:spPr>
          <a:xfrm>
            <a:off x="871108" y="588245"/>
            <a:ext cx="10449784" cy="1265928"/>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90487F-803F-C5AF-BD93-39C0FC738963}"/>
              </a:ext>
            </a:extLst>
          </p:cNvPr>
          <p:cNvSpPr>
            <a:spLocks noGrp="1"/>
          </p:cNvSpPr>
          <p:nvPr>
            <p:ph type="body" idx="1"/>
          </p:nvPr>
        </p:nvSpPr>
        <p:spPr>
          <a:xfrm>
            <a:off x="877824" y="2157984"/>
            <a:ext cx="10442448" cy="39038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586FCEF-4EDF-C2EF-7D81-FEFF7042F350}"/>
              </a:ext>
            </a:extLst>
          </p:cNvPr>
          <p:cNvSpPr>
            <a:spLocks noGrp="1"/>
          </p:cNvSpPr>
          <p:nvPr>
            <p:ph type="dt" sz="half" idx="2"/>
          </p:nvPr>
        </p:nvSpPr>
        <p:spPr>
          <a:xfrm>
            <a:off x="877824" y="6356350"/>
            <a:ext cx="2743200" cy="365125"/>
          </a:xfrm>
          <a:prstGeom prst="rect">
            <a:avLst/>
          </a:prstGeom>
        </p:spPr>
        <p:txBody>
          <a:bodyPr vert="horz" lIns="91440" tIns="45720" rIns="91440" bIns="45720" rtlCol="0" anchor="ctr"/>
          <a:lstStyle>
            <a:lvl1pPr algn="l">
              <a:defRPr sz="800" cap="all" spc="300" baseline="0">
                <a:solidFill>
                  <a:schemeClr val="tx2"/>
                </a:solidFill>
              </a:defRPr>
            </a:lvl1pPr>
          </a:lstStyle>
          <a:p>
            <a:fld id="{F9B0CB28-85DB-480B-8C99-FD493ACC7120}" type="datetimeFigureOut">
              <a:rPr lang="en-US" dirty="0"/>
              <a:t>9/13/2026</a:t>
            </a:fld>
            <a:endParaRPr lang="en-US" dirty="0"/>
          </a:p>
        </p:txBody>
      </p:sp>
      <p:sp>
        <p:nvSpPr>
          <p:cNvPr id="5" name="Footer Placeholder 4">
            <a:extLst>
              <a:ext uri="{FF2B5EF4-FFF2-40B4-BE49-F238E27FC236}">
                <a16:creationId xmlns:a16="http://schemas.microsoft.com/office/drawing/2014/main" id="{9A4663BC-4D46-C74D-DDF2-9D25B4D96F9B}"/>
              </a:ext>
            </a:extLst>
          </p:cNvPr>
          <p:cNvSpPr>
            <a:spLocks noGrp="1"/>
          </p:cNvSpPr>
          <p:nvPr>
            <p:ph type="ftr" sz="quarter" idx="3"/>
          </p:nvPr>
        </p:nvSpPr>
        <p:spPr>
          <a:xfrm>
            <a:off x="7132320" y="6356350"/>
            <a:ext cx="4297680" cy="365125"/>
          </a:xfrm>
          <a:prstGeom prst="rect">
            <a:avLst/>
          </a:prstGeom>
        </p:spPr>
        <p:txBody>
          <a:bodyPr vert="horz" lIns="91440" tIns="45720" rIns="91440" bIns="45720" rtlCol="0" anchor="ctr"/>
          <a:lstStyle>
            <a:lvl1pPr algn="r">
              <a:defRPr sz="800" cap="all" spc="300" baseline="0">
                <a:solidFill>
                  <a:schemeClr val="tx2"/>
                </a:solidFill>
              </a:defRPr>
            </a:lvl1pPr>
          </a:lstStyle>
          <a:p>
            <a:r>
              <a:rPr lang="en-US" dirty="0"/>
              <a:t>
              </a:t>
            </a:r>
          </a:p>
        </p:txBody>
      </p:sp>
      <p:sp>
        <p:nvSpPr>
          <p:cNvPr id="6" name="Slide Number Placeholder 5">
            <a:extLst>
              <a:ext uri="{FF2B5EF4-FFF2-40B4-BE49-F238E27FC236}">
                <a16:creationId xmlns:a16="http://schemas.microsoft.com/office/drawing/2014/main" id="{B71B4EAE-CB5C-D14B-77EF-7B155FA68353}"/>
              </a:ext>
            </a:extLst>
          </p:cNvPr>
          <p:cNvSpPr>
            <a:spLocks noGrp="1"/>
          </p:cNvSpPr>
          <p:nvPr>
            <p:ph type="sldNum" sz="quarter" idx="4"/>
          </p:nvPr>
        </p:nvSpPr>
        <p:spPr>
          <a:xfrm>
            <a:off x="11429999" y="6356350"/>
            <a:ext cx="521207" cy="365125"/>
          </a:xfrm>
          <a:prstGeom prst="rect">
            <a:avLst/>
          </a:prstGeom>
        </p:spPr>
        <p:txBody>
          <a:bodyPr vert="horz" lIns="91440" tIns="45720" rIns="91440" bIns="45720" rtlCol="0" anchor="ctr"/>
          <a:lstStyle>
            <a:lvl1pPr algn="r">
              <a:defRPr sz="1400">
                <a:solidFill>
                  <a:schemeClr val="tx2"/>
                </a:solidFill>
                <a:latin typeface="+mj-lt"/>
              </a:defRPr>
            </a:lvl1pPr>
          </a:lstStyle>
          <a:p>
            <a:fld id="{5E4DE196-8A13-4FF7-A07E-102851959EAB}" type="slidenum">
              <a:rPr lang="en-US" dirty="0"/>
              <a:pPr/>
              <a:t>‹#›</a:t>
            </a:fld>
            <a:endParaRPr lang="en-US" dirty="0"/>
          </a:p>
        </p:txBody>
      </p:sp>
    </p:spTree>
    <p:extLst>
      <p:ext uri="{BB962C8B-B14F-4D97-AF65-F5344CB8AC3E}">
        <p14:creationId xmlns:p14="http://schemas.microsoft.com/office/powerpoint/2010/main" val="1372936433"/>
      </p:ext>
    </p:extLst>
  </p:cSld>
  <p:clrMap bg1="lt1" tx1="dk1" bg2="lt2" tx2="dk2" accent1="accent1" accent2="accent2" accent3="accent3" accent4="accent4" accent5="accent5" accent6="accent6" hlink="hlink" folHlink="folHlink"/>
  <p:sldLayoutIdLst>
    <p:sldLayoutId id="2147484302" r:id="rId1"/>
    <p:sldLayoutId id="2147484303" r:id="rId2"/>
    <p:sldLayoutId id="2147484304" r:id="rId3"/>
    <p:sldLayoutId id="2147484305" r:id="rId4"/>
    <p:sldLayoutId id="2147484306" r:id="rId5"/>
    <p:sldLayoutId id="2147484307" r:id="rId6"/>
    <p:sldLayoutId id="2147484308" r:id="rId7"/>
    <p:sldLayoutId id="2147484309" r:id="rId8"/>
    <p:sldLayoutId id="2147484310" r:id="rId9"/>
    <p:sldLayoutId id="2147484311" r:id="rId10"/>
    <p:sldLayoutId id="214748431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10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guide id="5" orient="horz" pos="3816" userDrawn="1">
          <p15:clr>
            <a:srgbClr val="F26B43"/>
          </p15:clr>
        </p15:guide>
        <p15:guide id="6" orient="horz" pos="11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a:latin typeface="MingLiU_HKSCS"/>
                <a:ea typeface="MingLiU_HKSCS"/>
              </a:rPr>
              <a:t>Data Privacy and Security</a:t>
            </a:r>
          </a:p>
        </p:txBody>
      </p:sp>
      <p:sp>
        <p:nvSpPr>
          <p:cNvPr id="3" name="Subtitle 2"/>
          <p:cNvSpPr>
            <a:spLocks noGrp="1"/>
          </p:cNvSpPr>
          <p:nvPr>
            <p:ph type="subTitle" idx="1"/>
          </p:nvPr>
        </p:nvSpPr>
        <p:spPr/>
        <p:txBody>
          <a:bodyPr/>
          <a:lstStyle/>
          <a:p>
            <a:r>
              <a:rPr lang="en-US" u="sng" dirty="0"/>
              <a:t>Protect your personal data</a:t>
            </a:r>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BDAA3-0063-BEE5-2065-E4394F6624F6}"/>
              </a:ext>
            </a:extLst>
          </p:cNvPr>
          <p:cNvSpPr>
            <a:spLocks noGrp="1"/>
          </p:cNvSpPr>
          <p:nvPr>
            <p:ph type="title"/>
          </p:nvPr>
        </p:nvSpPr>
        <p:spPr/>
        <p:txBody>
          <a:bodyPr/>
          <a:lstStyle/>
          <a:p>
            <a:r>
              <a:rPr lang="en-US" dirty="0"/>
              <a:t>What is Data Privacy?</a:t>
            </a:r>
          </a:p>
        </p:txBody>
      </p:sp>
      <p:sp>
        <p:nvSpPr>
          <p:cNvPr id="3" name="Content Placeholder 2">
            <a:extLst>
              <a:ext uri="{FF2B5EF4-FFF2-40B4-BE49-F238E27FC236}">
                <a16:creationId xmlns:a16="http://schemas.microsoft.com/office/drawing/2014/main" id="{6070124F-4AB7-1555-E947-2F2176CDBAEC}"/>
              </a:ext>
            </a:extLst>
          </p:cNvPr>
          <p:cNvSpPr>
            <a:spLocks noGrp="1"/>
          </p:cNvSpPr>
          <p:nvPr>
            <p:ph idx="1"/>
          </p:nvPr>
        </p:nvSpPr>
        <p:spPr>
          <a:xfrm>
            <a:off x="868644" y="2157984"/>
            <a:ext cx="7073123" cy="3903819"/>
          </a:xfrm>
        </p:spPr>
        <p:txBody>
          <a:bodyPr vert="horz" lIns="91440" tIns="45720" rIns="91440" bIns="45720" rtlCol="0" anchor="t">
            <a:normAutofit fontScale="92500" lnSpcReduction="10000"/>
          </a:bodyPr>
          <a:lstStyle/>
          <a:p>
            <a:r>
              <a:rPr lang="en-US" sz="1800" dirty="0">
                <a:ea typeface="+mn-lt"/>
                <a:cs typeface="+mn-lt"/>
              </a:rPr>
              <a:t>Data privacy generally refers to an individual's right to control the circumstances around the sharing, communication, and acquisition of their personal information by third parties.</a:t>
            </a:r>
            <a:endParaRPr lang="en-US" sz="1800">
              <a:ea typeface="+mn-lt"/>
              <a:cs typeface="+mn-lt"/>
            </a:endParaRPr>
          </a:p>
          <a:p>
            <a:r>
              <a:rPr lang="en-US" sz="1800" dirty="0"/>
              <a:t>Personal Data includes</a:t>
            </a:r>
          </a:p>
          <a:p>
            <a:pPr lvl="1"/>
            <a:r>
              <a:rPr lang="en-US" sz="1600" dirty="0"/>
              <a:t>Names</a:t>
            </a:r>
          </a:p>
          <a:p>
            <a:pPr lvl="1"/>
            <a:r>
              <a:rPr lang="en-US" sz="1600" dirty="0"/>
              <a:t>Addresses</a:t>
            </a:r>
          </a:p>
          <a:p>
            <a:pPr lvl="1"/>
            <a:r>
              <a:rPr lang="en-US" sz="1600" dirty="0"/>
              <a:t>Phone Numbers</a:t>
            </a:r>
          </a:p>
          <a:p>
            <a:r>
              <a:rPr lang="en-US" sz="1800" dirty="0">
                <a:ea typeface="+mn-lt"/>
                <a:cs typeface="+mn-lt"/>
              </a:rPr>
              <a:t>In short, data privacy is about keeping personal information safe and secure.</a:t>
            </a:r>
            <a:endParaRPr lang="en-US" sz="1800" dirty="0"/>
          </a:p>
          <a:p>
            <a:pPr marL="228600"/>
            <a:endParaRPr lang="en-US" sz="1800" dirty="0"/>
          </a:p>
          <a:p>
            <a:pPr marL="228600" lvl="1" indent="0">
              <a:buNone/>
            </a:pPr>
            <a:r>
              <a:rPr lang="en-US" sz="1600" dirty="0"/>
              <a:t> </a:t>
            </a:r>
          </a:p>
          <a:p>
            <a:pPr marL="228600" lvl="1" indent="0">
              <a:buNone/>
            </a:pPr>
            <a:endParaRPr lang="en-US" sz="1600" dirty="0"/>
          </a:p>
          <a:p>
            <a:pPr marL="228600" lvl="1" indent="0">
              <a:buNone/>
            </a:pPr>
            <a:endParaRPr lang="en-US" sz="1600" dirty="0"/>
          </a:p>
        </p:txBody>
      </p:sp>
      <p:sp>
        <p:nvSpPr>
          <p:cNvPr id="4" name="Date Placeholder 3">
            <a:extLst>
              <a:ext uri="{FF2B5EF4-FFF2-40B4-BE49-F238E27FC236}">
                <a16:creationId xmlns:a16="http://schemas.microsoft.com/office/drawing/2014/main" id="{F2560EB0-DB6E-275B-4AA0-4625145CC14C}"/>
              </a:ext>
            </a:extLst>
          </p:cNvPr>
          <p:cNvSpPr>
            <a:spLocks noGrp="1"/>
          </p:cNvSpPr>
          <p:nvPr>
            <p:ph type="dt" sz="half" idx="10"/>
          </p:nvPr>
        </p:nvSpPr>
        <p:spPr/>
        <p:txBody>
          <a:bodyPr/>
          <a:lstStyle/>
          <a:p>
            <a:fld id="{284BB746-47BF-480D-8418-F62D9D2186CF}" type="datetime1">
              <a:t>9/13/2026</a:t>
            </a:fld>
            <a:endParaRPr lang="en-US" dirty="0"/>
          </a:p>
        </p:txBody>
      </p:sp>
      <p:sp>
        <p:nvSpPr>
          <p:cNvPr id="5" name="Footer Placeholder 4">
            <a:extLst>
              <a:ext uri="{FF2B5EF4-FFF2-40B4-BE49-F238E27FC236}">
                <a16:creationId xmlns:a16="http://schemas.microsoft.com/office/drawing/2014/main" id="{A7AAC822-640B-2D3A-04F2-5F284F87EE1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1C8DE4F-C223-1C2B-7008-29F99ABBC342}"/>
              </a:ext>
            </a:extLst>
          </p:cNvPr>
          <p:cNvSpPr>
            <a:spLocks noGrp="1"/>
          </p:cNvSpPr>
          <p:nvPr>
            <p:ph type="sldNum" sz="quarter" idx="12"/>
          </p:nvPr>
        </p:nvSpPr>
        <p:spPr/>
        <p:txBody>
          <a:bodyPr/>
          <a:lstStyle/>
          <a:p>
            <a:fld id="{5E4DE196-8A13-4FF7-A07E-102851959EAB}" type="slidenum">
              <a:rPr lang="en-US" dirty="0"/>
              <a:t>2</a:t>
            </a:fld>
            <a:endParaRPr lang="en-US" dirty="0"/>
          </a:p>
        </p:txBody>
      </p:sp>
      <p:pic>
        <p:nvPicPr>
          <p:cNvPr id="7" name="Picture 6">
            <a:extLst>
              <a:ext uri="{FF2B5EF4-FFF2-40B4-BE49-F238E27FC236}">
                <a16:creationId xmlns:a16="http://schemas.microsoft.com/office/drawing/2014/main" id="{4ECD68A1-C591-D0E6-3099-CA376E32067F}"/>
              </a:ext>
            </a:extLst>
          </p:cNvPr>
          <p:cNvPicPr>
            <a:picLocks noChangeAspect="1"/>
          </p:cNvPicPr>
          <p:nvPr/>
        </p:nvPicPr>
        <p:blipFill>
          <a:blip r:embed="rId2"/>
          <a:stretch>
            <a:fillRect/>
          </a:stretch>
        </p:blipFill>
        <p:spPr>
          <a:xfrm>
            <a:off x="7922964" y="2421416"/>
            <a:ext cx="3396868" cy="2547651"/>
          </a:xfrm>
          <a:prstGeom prst="rect">
            <a:avLst/>
          </a:prstGeom>
        </p:spPr>
      </p:pic>
    </p:spTree>
    <p:extLst>
      <p:ext uri="{BB962C8B-B14F-4D97-AF65-F5344CB8AC3E}">
        <p14:creationId xmlns:p14="http://schemas.microsoft.com/office/powerpoint/2010/main" val="148347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3A3B4-F694-9672-ADB1-44C7B1E82F36}"/>
              </a:ext>
            </a:extLst>
          </p:cNvPr>
          <p:cNvSpPr>
            <a:spLocks noGrp="1"/>
          </p:cNvSpPr>
          <p:nvPr>
            <p:ph type="title"/>
          </p:nvPr>
        </p:nvSpPr>
        <p:spPr/>
        <p:txBody>
          <a:bodyPr/>
          <a:lstStyle/>
          <a:p>
            <a:r>
              <a:rPr lang="en-US" dirty="0"/>
              <a:t>Why is data privacy important?</a:t>
            </a:r>
          </a:p>
        </p:txBody>
      </p:sp>
      <p:sp>
        <p:nvSpPr>
          <p:cNvPr id="3" name="Content Placeholder 2">
            <a:extLst>
              <a:ext uri="{FF2B5EF4-FFF2-40B4-BE49-F238E27FC236}">
                <a16:creationId xmlns:a16="http://schemas.microsoft.com/office/drawing/2014/main" id="{3382EE76-C55E-DC23-F845-538F85387E47}"/>
              </a:ext>
            </a:extLst>
          </p:cNvPr>
          <p:cNvSpPr>
            <a:spLocks noGrp="1"/>
          </p:cNvSpPr>
          <p:nvPr>
            <p:ph idx="1"/>
          </p:nvPr>
        </p:nvSpPr>
        <p:spPr/>
        <p:txBody>
          <a:bodyPr vert="horz" lIns="91440" tIns="45720" rIns="91440" bIns="45720" rtlCol="0" anchor="t">
            <a:normAutofit/>
          </a:bodyPr>
          <a:lstStyle/>
          <a:p>
            <a:r>
              <a:rPr lang="en-US" dirty="0">
                <a:ea typeface="+mn-lt"/>
                <a:cs typeface="+mn-lt"/>
              </a:rPr>
              <a:t>For individuals, keeping control over their data is essential to maintaining personal autonomy and freedom. </a:t>
            </a:r>
          </a:p>
          <a:p>
            <a:pPr lvl="1">
              <a:buFont typeface="Courier New" panose="020B0604020202020204" pitchFamily="34" charset="0"/>
              <a:buChar char="o"/>
            </a:pPr>
            <a:r>
              <a:rPr lang="en-US" dirty="0">
                <a:ea typeface="+mn-lt"/>
                <a:cs typeface="+mn-lt"/>
              </a:rPr>
              <a:t>When that control is lost, personal security can be compromised, opening the door to risks like manipulation or exploitation.</a:t>
            </a:r>
            <a:endParaRPr lang="en-US" dirty="0"/>
          </a:p>
          <a:p>
            <a:r>
              <a:rPr lang="en-US" dirty="0">
                <a:ea typeface="+mn-lt"/>
                <a:cs typeface="+mn-lt"/>
              </a:rPr>
              <a:t>For businesses, the stakes are just as high – if not higher. If proper data privacy measures aren't taken and a data breach happens, it can</a:t>
            </a:r>
          </a:p>
          <a:p>
            <a:pPr lvl="1">
              <a:buFont typeface="Courier New" panose="020B0604020202020204" pitchFamily="34" charset="0"/>
              <a:buChar char="o"/>
            </a:pPr>
            <a:r>
              <a:rPr lang="en-US" dirty="0">
                <a:ea typeface="+mn-lt"/>
                <a:cs typeface="+mn-lt"/>
              </a:rPr>
              <a:t>ruin a company's reputation</a:t>
            </a:r>
          </a:p>
          <a:p>
            <a:pPr lvl="1">
              <a:buFont typeface="Courier New" panose="020B0604020202020204" pitchFamily="34" charset="0"/>
              <a:buChar char="o"/>
            </a:pPr>
            <a:r>
              <a:rPr lang="en-US" dirty="0">
                <a:ea typeface="+mn-lt"/>
                <a:cs typeface="+mn-lt"/>
              </a:rPr>
              <a:t>destroy customer trust,</a:t>
            </a:r>
          </a:p>
          <a:p>
            <a:pPr lvl="1">
              <a:buFont typeface="Courier New" panose="020B0604020202020204" pitchFamily="34" charset="0"/>
              <a:buChar char="o"/>
            </a:pPr>
            <a:r>
              <a:rPr lang="en-US" dirty="0">
                <a:ea typeface="+mn-lt"/>
                <a:cs typeface="+mn-lt"/>
              </a:rPr>
              <a:t>and lead to hefty fines.</a:t>
            </a:r>
          </a:p>
          <a:p>
            <a:r>
              <a:rPr lang="en-US" dirty="0">
                <a:ea typeface="+mn-lt"/>
                <a:cs typeface="+mn-lt"/>
              </a:rPr>
              <a:t>The average cost of a data breach is $4.35 million, and 83% of organizations report facing multiple data breaches. </a:t>
            </a:r>
          </a:p>
          <a:p>
            <a:pPr lvl="1">
              <a:buFont typeface="Courier New" panose="020B0604020202020204" pitchFamily="34" charset="0"/>
              <a:buChar char="o"/>
            </a:pPr>
            <a:r>
              <a:rPr lang="en-US" dirty="0">
                <a:ea typeface="+mn-lt"/>
                <a:cs typeface="+mn-lt"/>
              </a:rPr>
              <a:t>These figures highlight why strong data privacy and security are no longer optional — they're essential.</a:t>
            </a:r>
            <a:endParaRPr lang="en-US" dirty="0"/>
          </a:p>
          <a:p>
            <a:pPr marL="457200" lvl="2" indent="0">
              <a:buNone/>
            </a:pPr>
            <a:r>
              <a:rPr lang="en-US" dirty="0"/>
              <a:t> </a:t>
            </a:r>
          </a:p>
        </p:txBody>
      </p:sp>
      <p:sp>
        <p:nvSpPr>
          <p:cNvPr id="4" name="Date Placeholder 3">
            <a:extLst>
              <a:ext uri="{FF2B5EF4-FFF2-40B4-BE49-F238E27FC236}">
                <a16:creationId xmlns:a16="http://schemas.microsoft.com/office/drawing/2014/main" id="{A8146BD8-E473-D291-9BAD-E6CA0CF274B1}"/>
              </a:ext>
            </a:extLst>
          </p:cNvPr>
          <p:cNvSpPr>
            <a:spLocks noGrp="1"/>
          </p:cNvSpPr>
          <p:nvPr>
            <p:ph type="dt" sz="half" idx="10"/>
          </p:nvPr>
        </p:nvSpPr>
        <p:spPr/>
        <p:txBody>
          <a:bodyPr/>
          <a:lstStyle/>
          <a:p>
            <a:fld id="{DAA54AC0-D563-4F72-93BD-DA1F6C95E255}" type="datetime1">
              <a:t>9/13/2026</a:t>
            </a:fld>
            <a:endParaRPr lang="en-US" dirty="0"/>
          </a:p>
        </p:txBody>
      </p:sp>
      <p:sp>
        <p:nvSpPr>
          <p:cNvPr id="5" name="Footer Placeholder 4">
            <a:extLst>
              <a:ext uri="{FF2B5EF4-FFF2-40B4-BE49-F238E27FC236}">
                <a16:creationId xmlns:a16="http://schemas.microsoft.com/office/drawing/2014/main" id="{7F5C1524-0000-DA10-FEEE-EF77AF6F8D4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28783F3-CE57-821B-4D42-E22EECE90619}"/>
              </a:ext>
            </a:extLst>
          </p:cNvPr>
          <p:cNvSpPr>
            <a:spLocks noGrp="1"/>
          </p:cNvSpPr>
          <p:nvPr>
            <p:ph type="sldNum" sz="quarter" idx="12"/>
          </p:nvPr>
        </p:nvSpPr>
        <p:spPr/>
        <p:txBody>
          <a:bodyPr/>
          <a:lstStyle/>
          <a:p>
            <a:fld id="{5E4DE196-8A13-4FF7-A07E-102851959EAB}" type="slidenum">
              <a:rPr lang="en-US" dirty="0"/>
              <a:t>3</a:t>
            </a:fld>
            <a:endParaRPr lang="en-US" dirty="0"/>
          </a:p>
        </p:txBody>
      </p:sp>
    </p:spTree>
    <p:extLst>
      <p:ext uri="{BB962C8B-B14F-4D97-AF65-F5344CB8AC3E}">
        <p14:creationId xmlns:p14="http://schemas.microsoft.com/office/powerpoint/2010/main" val="348509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34F9-9776-F4C5-A7AA-1BE84F56AA99}"/>
              </a:ext>
            </a:extLst>
          </p:cNvPr>
          <p:cNvSpPr>
            <a:spLocks noGrp="1"/>
          </p:cNvSpPr>
          <p:nvPr>
            <p:ph type="title"/>
          </p:nvPr>
        </p:nvSpPr>
        <p:spPr/>
        <p:txBody>
          <a:bodyPr>
            <a:normAutofit/>
          </a:bodyPr>
          <a:lstStyle/>
          <a:p>
            <a:r>
              <a:rPr lang="en-US" dirty="0"/>
              <a:t>Data privacy in the age of AI </a:t>
            </a:r>
          </a:p>
        </p:txBody>
      </p:sp>
      <p:sp>
        <p:nvSpPr>
          <p:cNvPr id="4" name="Date Placeholder 3">
            <a:extLst>
              <a:ext uri="{FF2B5EF4-FFF2-40B4-BE49-F238E27FC236}">
                <a16:creationId xmlns:a16="http://schemas.microsoft.com/office/drawing/2014/main" id="{2B64AFBB-6628-4CE5-1083-1D7FE82408AB}"/>
              </a:ext>
            </a:extLst>
          </p:cNvPr>
          <p:cNvSpPr>
            <a:spLocks noGrp="1"/>
          </p:cNvSpPr>
          <p:nvPr>
            <p:ph type="dt" sz="half" idx="10"/>
          </p:nvPr>
        </p:nvSpPr>
        <p:spPr/>
        <p:txBody>
          <a:bodyPr/>
          <a:lstStyle/>
          <a:p>
            <a:fld id="{EB548256-7C20-4BB0-A789-32B7A4DD7EEA}" type="datetime1">
              <a:t>9/13/2026</a:t>
            </a:fld>
            <a:endParaRPr lang="en-US" dirty="0"/>
          </a:p>
        </p:txBody>
      </p:sp>
      <p:sp>
        <p:nvSpPr>
          <p:cNvPr id="5" name="Footer Placeholder 4">
            <a:extLst>
              <a:ext uri="{FF2B5EF4-FFF2-40B4-BE49-F238E27FC236}">
                <a16:creationId xmlns:a16="http://schemas.microsoft.com/office/drawing/2014/main" id="{34F38707-64BB-1938-53C0-A1A7B4017BE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F4AC2B5-4701-C5C5-040E-2090E8E07ACE}"/>
              </a:ext>
            </a:extLst>
          </p:cNvPr>
          <p:cNvSpPr>
            <a:spLocks noGrp="1"/>
          </p:cNvSpPr>
          <p:nvPr>
            <p:ph type="sldNum" sz="quarter" idx="12"/>
          </p:nvPr>
        </p:nvSpPr>
        <p:spPr/>
        <p:txBody>
          <a:bodyPr/>
          <a:lstStyle/>
          <a:p>
            <a:fld id="{5E4DE196-8A13-4FF7-A07E-102851959EAB}" type="slidenum">
              <a:rPr lang="en-US" dirty="0"/>
              <a:t>4</a:t>
            </a:fld>
            <a:endParaRPr lang="en-US" dirty="0"/>
          </a:p>
        </p:txBody>
      </p:sp>
      <p:sp>
        <p:nvSpPr>
          <p:cNvPr id="3" name="Content Placeholder 2">
            <a:extLst>
              <a:ext uri="{FF2B5EF4-FFF2-40B4-BE49-F238E27FC236}">
                <a16:creationId xmlns:a16="http://schemas.microsoft.com/office/drawing/2014/main" id="{AB5FB1B1-CF66-6AF4-8E41-F575C595B435}"/>
              </a:ext>
            </a:extLst>
          </p:cNvPr>
          <p:cNvSpPr>
            <a:spLocks noGrp="1"/>
          </p:cNvSpPr>
          <p:nvPr>
            <p:ph idx="1"/>
          </p:nvPr>
        </p:nvSpPr>
        <p:spPr/>
        <p:txBody>
          <a:bodyPr vert="horz" lIns="91440" tIns="45720" rIns="91440" bIns="45720" rtlCol="0" anchor="t">
            <a:normAutofit/>
          </a:bodyPr>
          <a:lstStyle/>
          <a:p>
            <a:r>
              <a:rPr lang="en-US" dirty="0">
                <a:ea typeface="+mn-lt"/>
                <a:cs typeface="+mn-lt"/>
              </a:rPr>
              <a:t>Large Language Models(LLM) and other AI systems need vast datasets to operate, increasing the potential for data and compliance risks.</a:t>
            </a:r>
          </a:p>
          <a:p>
            <a:r>
              <a:rPr lang="en-US" dirty="0">
                <a:ea typeface="+mn-lt"/>
                <a:cs typeface="+mn-lt"/>
              </a:rPr>
              <a:t>The challenge lies in balancing AI-driven innovation with robust data privacy measures. This balance is critical for maintaining customer trust and protecting sensitive information.</a:t>
            </a:r>
          </a:p>
          <a:p>
            <a:r>
              <a:rPr lang="en-US" dirty="0">
                <a:ea typeface="+mn-lt"/>
                <a:cs typeface="+mn-lt"/>
              </a:rPr>
              <a:t>However, many organizations are struggling to address these challenges, including safeguarding massive data volumes, combating security threats, and ensuring data accuracy and quality.</a:t>
            </a:r>
          </a:p>
          <a:p>
            <a:r>
              <a:rPr lang="en-US" dirty="0">
                <a:ea typeface="+mn-lt"/>
                <a:cs typeface="+mn-lt"/>
              </a:rPr>
              <a:t>AI can even play a role here by automating data protection and identifying vulnerabilities. At the same time, </a:t>
            </a:r>
            <a:r>
              <a:rPr lang="en-US" dirty="0" err="1">
                <a:ea typeface="+mn-lt"/>
                <a:cs typeface="+mn-lt"/>
              </a:rPr>
              <a:t>organisations</a:t>
            </a:r>
            <a:r>
              <a:rPr lang="en-US" dirty="0">
                <a:ea typeface="+mn-lt"/>
                <a:cs typeface="+mn-lt"/>
              </a:rPr>
              <a:t> must regularly update their privacy policies to address emerging risks.</a:t>
            </a:r>
          </a:p>
        </p:txBody>
      </p:sp>
    </p:spTree>
    <p:extLst>
      <p:ext uri="{BB962C8B-B14F-4D97-AF65-F5344CB8AC3E}">
        <p14:creationId xmlns:p14="http://schemas.microsoft.com/office/powerpoint/2010/main" val="1732388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AC16-24F4-F87E-A09C-A7F35FCB4EA0}"/>
              </a:ext>
            </a:extLst>
          </p:cNvPr>
          <p:cNvSpPr>
            <a:spLocks noGrp="1"/>
          </p:cNvSpPr>
          <p:nvPr>
            <p:ph type="title"/>
          </p:nvPr>
        </p:nvSpPr>
        <p:spPr/>
        <p:txBody>
          <a:bodyPr/>
          <a:lstStyle/>
          <a:p>
            <a:r>
              <a:rPr lang="en-US" dirty="0"/>
              <a:t>Benefits of data privacy </a:t>
            </a:r>
          </a:p>
        </p:txBody>
      </p:sp>
      <p:sp>
        <p:nvSpPr>
          <p:cNvPr id="3" name="Content Placeholder 2">
            <a:extLst>
              <a:ext uri="{FF2B5EF4-FFF2-40B4-BE49-F238E27FC236}">
                <a16:creationId xmlns:a16="http://schemas.microsoft.com/office/drawing/2014/main" id="{F16E7207-7756-0B7A-AA23-9E25197FE91C}"/>
              </a:ext>
            </a:extLst>
          </p:cNvPr>
          <p:cNvSpPr>
            <a:spLocks noGrp="1"/>
          </p:cNvSpPr>
          <p:nvPr>
            <p:ph idx="1"/>
          </p:nvPr>
        </p:nvSpPr>
        <p:spPr/>
        <p:txBody>
          <a:bodyPr vert="horz" lIns="91440" tIns="45720" rIns="91440" bIns="45720" rtlCol="0" anchor="t">
            <a:normAutofit/>
          </a:bodyPr>
          <a:lstStyle/>
          <a:p>
            <a:r>
              <a:rPr lang="en-US" b="1" dirty="0">
                <a:ea typeface="+mn-lt"/>
                <a:cs typeface="+mn-lt"/>
              </a:rPr>
              <a:t>Personal Safety:</a:t>
            </a:r>
            <a:r>
              <a:rPr lang="en-US" dirty="0">
                <a:ea typeface="+mn-lt"/>
                <a:cs typeface="+mn-lt"/>
              </a:rPr>
              <a:t> Prevents harmful activities like stalking, blackmail, identity theft, and financial fraud.</a:t>
            </a:r>
            <a:endParaRPr lang="en-US" b="1" dirty="0">
              <a:ea typeface="+mn-lt"/>
              <a:cs typeface="+mn-lt"/>
            </a:endParaRPr>
          </a:p>
          <a:p>
            <a:r>
              <a:rPr lang="en-US" b="1" dirty="0">
                <a:ea typeface="+mn-lt"/>
                <a:cs typeface="+mn-lt"/>
              </a:rPr>
              <a:t>Builds Customer Trust:</a:t>
            </a:r>
            <a:r>
              <a:rPr lang="en-US" dirty="0">
                <a:ea typeface="+mn-lt"/>
                <a:cs typeface="+mn-lt"/>
              </a:rPr>
              <a:t> Transparent handling of personal data increases customer loyalty and repeat business.</a:t>
            </a:r>
            <a:endParaRPr lang="en-US"/>
          </a:p>
          <a:p>
            <a:r>
              <a:rPr lang="en-US" b="1" dirty="0">
                <a:ea typeface="+mn-lt"/>
                <a:cs typeface="+mn-lt"/>
              </a:rPr>
              <a:t>Legal Compliance:</a:t>
            </a:r>
            <a:r>
              <a:rPr lang="en-US" dirty="0">
                <a:ea typeface="+mn-lt"/>
                <a:cs typeface="+mn-lt"/>
              </a:rPr>
              <a:t> Following rules like the General Data Protection Regulation avoids costly government fines and lawsuits.</a:t>
            </a:r>
            <a:endParaRPr lang="en-US" dirty="0"/>
          </a:p>
          <a:p>
            <a:r>
              <a:rPr lang="en-US" b="1" dirty="0">
                <a:ea typeface="+mn-lt"/>
                <a:cs typeface="+mn-lt"/>
              </a:rPr>
              <a:t>Saves Money:</a:t>
            </a:r>
            <a:r>
              <a:rPr lang="en-US" dirty="0">
                <a:ea typeface="+mn-lt"/>
                <a:cs typeface="+mn-lt"/>
              </a:rPr>
              <a:t> Good privacy habits prevent expensive data breaches and the cost of fixing hacked systems.</a:t>
            </a:r>
          </a:p>
          <a:p>
            <a:r>
              <a:rPr lang="en-US" b="1" dirty="0">
                <a:ea typeface="+mn-lt"/>
                <a:cs typeface="+mn-lt"/>
              </a:rPr>
              <a:t>Better Operations:</a:t>
            </a:r>
            <a:r>
              <a:rPr lang="en-US" dirty="0">
                <a:ea typeface="+mn-lt"/>
                <a:cs typeface="+mn-lt"/>
              </a:rPr>
              <a:t> Collecting only necessary data simplifies database management and reduces storage costs. </a:t>
            </a:r>
            <a:endParaRPr lang="en-US" dirty="0"/>
          </a:p>
          <a:p>
            <a:endParaRPr lang="en-US" dirty="0"/>
          </a:p>
        </p:txBody>
      </p:sp>
      <p:sp>
        <p:nvSpPr>
          <p:cNvPr id="4" name="Date Placeholder 3">
            <a:extLst>
              <a:ext uri="{FF2B5EF4-FFF2-40B4-BE49-F238E27FC236}">
                <a16:creationId xmlns:a16="http://schemas.microsoft.com/office/drawing/2014/main" id="{140A4CE2-BEC5-DEE7-35B9-18BDA26328DD}"/>
              </a:ext>
            </a:extLst>
          </p:cNvPr>
          <p:cNvSpPr>
            <a:spLocks noGrp="1"/>
          </p:cNvSpPr>
          <p:nvPr>
            <p:ph type="dt" sz="half" idx="10"/>
          </p:nvPr>
        </p:nvSpPr>
        <p:spPr/>
        <p:txBody>
          <a:bodyPr/>
          <a:lstStyle/>
          <a:p>
            <a:fld id="{60D033CA-889C-45A8-A403-68E8CA97328A}" type="datetime1">
              <a:t>9/13/2026</a:t>
            </a:fld>
            <a:endParaRPr lang="en-US" dirty="0"/>
          </a:p>
        </p:txBody>
      </p:sp>
      <p:sp>
        <p:nvSpPr>
          <p:cNvPr id="5" name="Footer Placeholder 4">
            <a:extLst>
              <a:ext uri="{FF2B5EF4-FFF2-40B4-BE49-F238E27FC236}">
                <a16:creationId xmlns:a16="http://schemas.microsoft.com/office/drawing/2014/main" id="{6AED009A-7DD7-85E7-7D50-63111BBE9AD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53CFBD1-A4E1-6031-8EA0-7DBB9C9B34E3}"/>
              </a:ext>
            </a:extLst>
          </p:cNvPr>
          <p:cNvSpPr>
            <a:spLocks noGrp="1"/>
          </p:cNvSpPr>
          <p:nvPr>
            <p:ph type="sldNum" sz="quarter" idx="12"/>
          </p:nvPr>
        </p:nvSpPr>
        <p:spPr/>
        <p:txBody>
          <a:bodyPr/>
          <a:lstStyle/>
          <a:p>
            <a:fld id="{5E4DE196-8A13-4FF7-A07E-102851959EAB}" type="slidenum">
              <a:rPr lang="en-US" dirty="0"/>
              <a:t>5</a:t>
            </a:fld>
            <a:endParaRPr lang="en-US" dirty="0"/>
          </a:p>
        </p:txBody>
      </p:sp>
    </p:spTree>
    <p:extLst>
      <p:ext uri="{BB962C8B-B14F-4D97-AF65-F5344CB8AC3E}">
        <p14:creationId xmlns:p14="http://schemas.microsoft.com/office/powerpoint/2010/main" val="85070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03139-0B65-EB4F-C6F6-D5F933403644}"/>
              </a:ext>
            </a:extLst>
          </p:cNvPr>
          <p:cNvSpPr>
            <a:spLocks noGrp="1"/>
          </p:cNvSpPr>
          <p:nvPr>
            <p:ph type="title"/>
          </p:nvPr>
        </p:nvSpPr>
        <p:spPr/>
        <p:txBody>
          <a:bodyPr/>
          <a:lstStyle/>
          <a:p>
            <a:r>
              <a:rPr lang="en-US" dirty="0"/>
              <a:t>Laws &amp; regulations that govern data privacy </a:t>
            </a:r>
          </a:p>
        </p:txBody>
      </p:sp>
      <p:sp>
        <p:nvSpPr>
          <p:cNvPr id="3" name="Content Placeholder 2">
            <a:extLst>
              <a:ext uri="{FF2B5EF4-FFF2-40B4-BE49-F238E27FC236}">
                <a16:creationId xmlns:a16="http://schemas.microsoft.com/office/drawing/2014/main" id="{C870C45D-084A-FDE5-AAFD-3FFC325D76A3}"/>
              </a:ext>
            </a:extLst>
          </p:cNvPr>
          <p:cNvSpPr>
            <a:spLocks noGrp="1"/>
          </p:cNvSpPr>
          <p:nvPr>
            <p:ph idx="1"/>
          </p:nvPr>
        </p:nvSpPr>
        <p:spPr/>
        <p:txBody>
          <a:bodyPr vert="horz" lIns="91440" tIns="45720" rIns="91440" bIns="45720" rtlCol="0" anchor="t">
            <a:normAutofit/>
          </a:bodyPr>
          <a:lstStyle/>
          <a:p>
            <a:pPr marL="342900" indent="-342900">
              <a:buAutoNum type="arabicPeriod"/>
            </a:pPr>
            <a:r>
              <a:rPr lang="en-US" b="1" dirty="0">
                <a:ea typeface="+mn-lt"/>
                <a:cs typeface="+mn-lt"/>
              </a:rPr>
              <a:t>General Data Protection Regulation (GDPR)</a:t>
            </a:r>
            <a:r>
              <a:rPr lang="en-US" dirty="0">
                <a:ea typeface="+mn-lt"/>
                <a:cs typeface="+mn-lt"/>
              </a:rPr>
              <a:t>: This measure mandates comprehensive measures for handling personal data across EU. These include rights to access, correct, and delete personal information.</a:t>
            </a:r>
            <a:endParaRPr lang="en-US" dirty="0"/>
          </a:p>
          <a:p>
            <a:pPr marL="342900" indent="-342900">
              <a:buAutoNum type="arabicPeriod"/>
            </a:pPr>
            <a:r>
              <a:rPr lang="en-US" b="1" dirty="0">
                <a:ea typeface="+mn-lt"/>
                <a:cs typeface="+mn-lt"/>
              </a:rPr>
              <a:t>California Consumer Privacy Act (CCPA)</a:t>
            </a:r>
            <a:r>
              <a:rPr lang="en-US" dirty="0">
                <a:ea typeface="+mn-lt"/>
                <a:cs typeface="+mn-lt"/>
              </a:rPr>
              <a:t>: This act empowers California residents with similar rights to those outlined in the GDPR. However, the CCPA also introduces specific disclosures and business obligations regarding consumer data.</a:t>
            </a:r>
            <a:endParaRPr lang="en-US" dirty="0"/>
          </a:p>
          <a:p>
            <a:pPr marL="342900" indent="-342900">
              <a:buAutoNum type="arabicPeriod"/>
            </a:pPr>
            <a:r>
              <a:rPr lang="en-US" b="1" dirty="0">
                <a:ea typeface="+mn-lt"/>
                <a:cs typeface="+mn-lt"/>
              </a:rPr>
              <a:t>Health Insurance Portability and Accountability Act (HIPAA)</a:t>
            </a:r>
            <a:r>
              <a:rPr lang="en-US" dirty="0">
                <a:ea typeface="+mn-lt"/>
                <a:cs typeface="+mn-lt"/>
              </a:rPr>
              <a:t>: This law protects personal health information, ensuring confidentiality and security in the healthcare sector.</a:t>
            </a:r>
            <a:endParaRPr lang="en-US" dirty="0"/>
          </a:p>
          <a:p>
            <a:pPr marL="342900" indent="-342900">
              <a:buAutoNum type="arabicPeriod"/>
            </a:pPr>
            <a:r>
              <a:rPr lang="en-US" b="1" dirty="0">
                <a:ea typeface="+mn-lt"/>
                <a:cs typeface="+mn-lt"/>
              </a:rPr>
              <a:t>Children's Online Privacy Protection Act (COPPA)</a:t>
            </a:r>
            <a:r>
              <a:rPr lang="en-US" dirty="0">
                <a:ea typeface="+mn-lt"/>
                <a:cs typeface="+mn-lt"/>
              </a:rPr>
              <a:t>: This regulation safeguards the privacy of children under 13 online, regulating how websites and online services collect and use children's information.</a:t>
            </a:r>
            <a:endParaRPr lang="en-US" dirty="0"/>
          </a:p>
          <a:p>
            <a:pPr>
              <a:buAutoNum type="arabicPeriod"/>
            </a:pPr>
            <a:endParaRPr lang="en-US" dirty="0"/>
          </a:p>
        </p:txBody>
      </p:sp>
      <p:sp>
        <p:nvSpPr>
          <p:cNvPr id="4" name="Date Placeholder 3">
            <a:extLst>
              <a:ext uri="{FF2B5EF4-FFF2-40B4-BE49-F238E27FC236}">
                <a16:creationId xmlns:a16="http://schemas.microsoft.com/office/drawing/2014/main" id="{A6EE6B15-32D3-85F3-0367-241415E7FB15}"/>
              </a:ext>
            </a:extLst>
          </p:cNvPr>
          <p:cNvSpPr>
            <a:spLocks noGrp="1"/>
          </p:cNvSpPr>
          <p:nvPr>
            <p:ph type="dt" sz="half" idx="10"/>
          </p:nvPr>
        </p:nvSpPr>
        <p:spPr/>
        <p:txBody>
          <a:bodyPr/>
          <a:lstStyle/>
          <a:p>
            <a:fld id="{015BAAB7-6889-4CF3-B6F1-9CAEA19CBBA7}" type="datetime1">
              <a:t>9/13/2026</a:t>
            </a:fld>
            <a:endParaRPr lang="en-US" dirty="0"/>
          </a:p>
        </p:txBody>
      </p:sp>
      <p:sp>
        <p:nvSpPr>
          <p:cNvPr id="5" name="Footer Placeholder 4">
            <a:extLst>
              <a:ext uri="{FF2B5EF4-FFF2-40B4-BE49-F238E27FC236}">
                <a16:creationId xmlns:a16="http://schemas.microsoft.com/office/drawing/2014/main" id="{F54BFF69-6441-043D-CBD3-11FA37A6245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00C52F2-8811-9017-D65E-24DE97C8C6F6}"/>
              </a:ext>
            </a:extLst>
          </p:cNvPr>
          <p:cNvSpPr>
            <a:spLocks noGrp="1"/>
          </p:cNvSpPr>
          <p:nvPr>
            <p:ph type="sldNum" sz="quarter" idx="12"/>
          </p:nvPr>
        </p:nvSpPr>
        <p:spPr/>
        <p:txBody>
          <a:bodyPr/>
          <a:lstStyle/>
          <a:p>
            <a:fld id="{5E4DE196-8A13-4FF7-A07E-102851959EAB}" type="slidenum">
              <a:rPr lang="en-US" dirty="0"/>
              <a:t>6</a:t>
            </a:fld>
            <a:endParaRPr lang="en-US" dirty="0"/>
          </a:p>
        </p:txBody>
      </p:sp>
    </p:spTree>
    <p:extLst>
      <p:ext uri="{BB962C8B-B14F-4D97-AF65-F5344CB8AC3E}">
        <p14:creationId xmlns:p14="http://schemas.microsoft.com/office/powerpoint/2010/main" val="410928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499DC-855D-ECF7-F325-0F1424987538}"/>
              </a:ext>
            </a:extLst>
          </p:cNvPr>
          <p:cNvSpPr>
            <a:spLocks noGrp="1"/>
          </p:cNvSpPr>
          <p:nvPr>
            <p:ph type="title"/>
          </p:nvPr>
        </p:nvSpPr>
        <p:spPr>
          <a:xfrm>
            <a:off x="861927" y="588245"/>
            <a:ext cx="10449784" cy="1265928"/>
          </a:xfrm>
        </p:spPr>
        <p:txBody>
          <a:bodyPr/>
          <a:lstStyle/>
          <a:p>
            <a:r>
              <a:rPr lang="en-US" dirty="0"/>
              <a:t>Common data privacy issues &amp; challenges</a:t>
            </a:r>
          </a:p>
        </p:txBody>
      </p:sp>
      <p:sp>
        <p:nvSpPr>
          <p:cNvPr id="3" name="Content Placeholder 2">
            <a:extLst>
              <a:ext uri="{FF2B5EF4-FFF2-40B4-BE49-F238E27FC236}">
                <a16:creationId xmlns:a16="http://schemas.microsoft.com/office/drawing/2014/main" id="{8A1C0774-BD98-469D-13F5-39FB435FD48C}"/>
              </a:ext>
            </a:extLst>
          </p:cNvPr>
          <p:cNvSpPr>
            <a:spLocks noGrp="1"/>
          </p:cNvSpPr>
          <p:nvPr>
            <p:ph idx="1"/>
          </p:nvPr>
        </p:nvSpPr>
        <p:spPr/>
        <p:txBody>
          <a:bodyPr vert="horz" lIns="91440" tIns="45720" rIns="91440" bIns="45720" rtlCol="0" anchor="t">
            <a:normAutofit/>
          </a:bodyPr>
          <a:lstStyle/>
          <a:p>
            <a:r>
              <a:rPr lang="en-US" b="1" dirty="0">
                <a:ea typeface="+mn-lt"/>
                <a:cs typeface="+mn-lt"/>
              </a:rPr>
              <a:t>Keeping up with regulations:</a:t>
            </a:r>
            <a:r>
              <a:rPr lang="en-US" dirty="0">
                <a:ea typeface="+mn-lt"/>
                <a:cs typeface="+mn-lt"/>
              </a:rPr>
              <a:t> Regular updates and continuous monitoring are essential to avoid legal issues and fines.</a:t>
            </a:r>
          </a:p>
          <a:p>
            <a:r>
              <a:rPr lang="en-US" b="1" dirty="0">
                <a:ea typeface="+mn-lt"/>
                <a:cs typeface="+mn-lt"/>
              </a:rPr>
              <a:t>Establishing a data privacy culture</a:t>
            </a:r>
            <a:r>
              <a:rPr lang="en-US" dirty="0">
                <a:ea typeface="+mn-lt"/>
                <a:cs typeface="+mn-lt"/>
              </a:rPr>
              <a:t>: This means regularly training employees on data privacy practices and establishing clear data governance frameworks – data privacy must be viewed as the responsibility of every employee.</a:t>
            </a:r>
          </a:p>
          <a:p>
            <a:r>
              <a:rPr lang="en-US" b="1" dirty="0">
                <a:ea typeface="+mn-lt"/>
                <a:cs typeface="+mn-lt"/>
              </a:rPr>
              <a:t>Cost of having a robust strategy</a:t>
            </a:r>
            <a:r>
              <a:rPr lang="en-US" dirty="0">
                <a:ea typeface="+mn-lt"/>
                <a:cs typeface="+mn-lt"/>
              </a:rPr>
              <a:t>: Investing in the right tools, training, and technologies can require significant financial resources.</a:t>
            </a:r>
          </a:p>
          <a:p>
            <a:r>
              <a:rPr lang="en-US" b="1" dirty="0">
                <a:ea typeface="+mn-lt"/>
                <a:cs typeface="+mn-lt"/>
              </a:rPr>
              <a:t>Internal threats</a:t>
            </a:r>
            <a:r>
              <a:rPr lang="en-US" dirty="0">
                <a:ea typeface="+mn-lt"/>
                <a:cs typeface="+mn-lt"/>
              </a:rPr>
              <a:t>: Employees may inadvertently cause data breaches through poor handling practices or lack of awareness. Continuous training and stringent access controls are necessary to mitigate these risks.</a:t>
            </a:r>
          </a:p>
          <a:p>
            <a:r>
              <a:rPr lang="en-US" b="1" dirty="0">
                <a:ea typeface="+mn-lt"/>
                <a:cs typeface="+mn-lt"/>
              </a:rPr>
              <a:t>External threats: </a:t>
            </a:r>
            <a:r>
              <a:rPr lang="en-US" dirty="0">
                <a:ea typeface="+mn-lt"/>
                <a:cs typeface="+mn-lt"/>
              </a:rPr>
              <a:t>External threats, including phishing schemes and malware, are constantly adapting and can severely compromise sensitive data. Organizations can implement cybersecurity measures like firewalls and encryption to mitigate these external risks to data privacy.</a:t>
            </a:r>
            <a:endParaRPr lang="en-US" dirty="0"/>
          </a:p>
        </p:txBody>
      </p:sp>
      <p:sp>
        <p:nvSpPr>
          <p:cNvPr id="4" name="Date Placeholder 3">
            <a:extLst>
              <a:ext uri="{FF2B5EF4-FFF2-40B4-BE49-F238E27FC236}">
                <a16:creationId xmlns:a16="http://schemas.microsoft.com/office/drawing/2014/main" id="{61C3F1B7-78B8-44AF-5D9E-1ED18F5A06DB}"/>
              </a:ext>
            </a:extLst>
          </p:cNvPr>
          <p:cNvSpPr>
            <a:spLocks noGrp="1"/>
          </p:cNvSpPr>
          <p:nvPr>
            <p:ph type="dt" sz="half" idx="10"/>
          </p:nvPr>
        </p:nvSpPr>
        <p:spPr/>
        <p:txBody>
          <a:bodyPr/>
          <a:lstStyle/>
          <a:p>
            <a:fld id="{2B21538B-E98E-4DD1-A5F0-6DA77339F48D}" type="datetime1">
              <a:t>9/13/2026</a:t>
            </a:fld>
            <a:endParaRPr lang="en-US" dirty="0"/>
          </a:p>
        </p:txBody>
      </p:sp>
      <p:sp>
        <p:nvSpPr>
          <p:cNvPr id="5" name="Footer Placeholder 4">
            <a:extLst>
              <a:ext uri="{FF2B5EF4-FFF2-40B4-BE49-F238E27FC236}">
                <a16:creationId xmlns:a16="http://schemas.microsoft.com/office/drawing/2014/main" id="{0E68EE3E-2057-F870-E41A-8132DEA57F1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63C0640-D6F3-FD77-7400-7B7D2C3C20F9}"/>
              </a:ext>
            </a:extLst>
          </p:cNvPr>
          <p:cNvSpPr>
            <a:spLocks noGrp="1"/>
          </p:cNvSpPr>
          <p:nvPr>
            <p:ph type="sldNum" sz="quarter" idx="12"/>
          </p:nvPr>
        </p:nvSpPr>
        <p:spPr/>
        <p:txBody>
          <a:bodyPr/>
          <a:lstStyle/>
          <a:p>
            <a:fld id="{5E4DE196-8A13-4FF7-A07E-102851959EAB}" type="slidenum">
              <a:rPr lang="en-US" dirty="0"/>
              <a:t>7</a:t>
            </a:fld>
            <a:endParaRPr lang="en-US" dirty="0"/>
          </a:p>
        </p:txBody>
      </p:sp>
    </p:spTree>
    <p:extLst>
      <p:ext uri="{BB962C8B-B14F-4D97-AF65-F5344CB8AC3E}">
        <p14:creationId xmlns:p14="http://schemas.microsoft.com/office/powerpoint/2010/main" val="1299398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68A68-EB6B-800C-18DB-764F0D02A9D6}"/>
              </a:ext>
            </a:extLst>
          </p:cNvPr>
          <p:cNvSpPr>
            <a:spLocks noGrp="1"/>
          </p:cNvSpPr>
          <p:nvPr>
            <p:ph type="title"/>
          </p:nvPr>
        </p:nvSpPr>
        <p:spPr/>
        <p:txBody>
          <a:bodyPr/>
          <a:lstStyle/>
          <a:p>
            <a:br>
              <a:rPr lang="en-US" dirty="0"/>
            </a:br>
            <a:r>
              <a:rPr lang="en-US" dirty="0"/>
              <a:t>Data privacy principles &amp; best practices </a:t>
            </a:r>
          </a:p>
        </p:txBody>
      </p:sp>
      <p:sp>
        <p:nvSpPr>
          <p:cNvPr id="3" name="Content Placeholder 2">
            <a:extLst>
              <a:ext uri="{FF2B5EF4-FFF2-40B4-BE49-F238E27FC236}">
                <a16:creationId xmlns:a16="http://schemas.microsoft.com/office/drawing/2014/main" id="{11246D23-D22A-028B-6714-7E2888FDC5D3}"/>
              </a:ext>
            </a:extLst>
          </p:cNvPr>
          <p:cNvSpPr>
            <a:spLocks noGrp="1"/>
          </p:cNvSpPr>
          <p:nvPr>
            <p:ph idx="1"/>
          </p:nvPr>
        </p:nvSpPr>
        <p:spPr/>
        <p:txBody>
          <a:bodyPr vert="horz" lIns="91440" tIns="45720" rIns="91440" bIns="45720" rtlCol="0" anchor="t">
            <a:normAutofit lnSpcReduction="10000"/>
          </a:bodyPr>
          <a:lstStyle/>
          <a:p>
            <a:r>
              <a:rPr lang="en-US" dirty="0">
                <a:ea typeface="+mn-lt"/>
                <a:cs typeface="+mn-lt"/>
              </a:rPr>
              <a:t>Collection limitation: There should be limits to how much personal data can be collected</a:t>
            </a:r>
            <a:endParaRPr lang="en-US" dirty="0"/>
          </a:p>
          <a:p>
            <a:r>
              <a:rPr lang="en-US" dirty="0">
                <a:ea typeface="+mn-lt"/>
                <a:cs typeface="+mn-lt"/>
              </a:rPr>
              <a:t>Data quality: Personal data, when collected, should be accurate and related to the purpose it is being used for</a:t>
            </a:r>
            <a:endParaRPr lang="en-US" dirty="0"/>
          </a:p>
          <a:p>
            <a:r>
              <a:rPr lang="en-US" dirty="0">
                <a:ea typeface="+mn-lt"/>
                <a:cs typeface="+mn-lt"/>
              </a:rPr>
              <a:t>Purpose specification: The use for personal data should be specified</a:t>
            </a:r>
            <a:endParaRPr lang="en-US" dirty="0"/>
          </a:p>
          <a:p>
            <a:r>
              <a:rPr lang="en-US" dirty="0">
                <a:ea typeface="+mn-lt"/>
                <a:cs typeface="+mn-lt"/>
              </a:rPr>
              <a:t>Use limitation: Data should not be used for purposes other than what was specified</a:t>
            </a:r>
            <a:endParaRPr lang="en-US" dirty="0"/>
          </a:p>
          <a:p>
            <a:r>
              <a:rPr lang="en-US" dirty="0">
                <a:ea typeface="+mn-lt"/>
                <a:cs typeface="+mn-lt"/>
              </a:rPr>
              <a:t>Security safeguards: Data should be kept secure</a:t>
            </a:r>
            <a:endParaRPr lang="en-US" dirty="0"/>
          </a:p>
          <a:p>
            <a:r>
              <a:rPr lang="en-US" dirty="0">
                <a:ea typeface="+mn-lt"/>
                <a:cs typeface="+mn-lt"/>
              </a:rPr>
              <a:t>Openness: Personal data collection and usage should not be kept secret from individuals</a:t>
            </a:r>
            <a:endParaRPr lang="en-US" dirty="0"/>
          </a:p>
          <a:p>
            <a:r>
              <a:rPr lang="en-US" dirty="0">
                <a:ea typeface="+mn-lt"/>
                <a:cs typeface="+mn-lt"/>
              </a:rPr>
              <a:t>Individual participation: Individuals have a number of rights, including the right to know who has their personal data, to have their data communicated to them, to know why a request for their data is denied, and to have their personal data corrected or erased</a:t>
            </a:r>
            <a:endParaRPr lang="en-US" dirty="0"/>
          </a:p>
          <a:p>
            <a:r>
              <a:rPr lang="en-US" dirty="0">
                <a:ea typeface="+mn-lt"/>
                <a:cs typeface="+mn-lt"/>
              </a:rPr>
              <a:t>Accountability: Anyone who collects data should be held accountable for implementing these principles</a:t>
            </a:r>
            <a:endParaRPr lang="en-US" dirty="0"/>
          </a:p>
          <a:p>
            <a:pPr marL="342900" indent="-342900">
              <a:buAutoNum type="arabicPeriod"/>
            </a:pPr>
            <a:endParaRPr lang="en-US" b="1" dirty="0"/>
          </a:p>
          <a:p>
            <a:pPr>
              <a:buAutoNum type="arabicPeriod"/>
            </a:pPr>
            <a:endParaRPr lang="en-US" dirty="0"/>
          </a:p>
          <a:p>
            <a:pPr>
              <a:buAutoNum type="arabicPeriod"/>
            </a:pPr>
            <a:endParaRPr lang="en-US" dirty="0"/>
          </a:p>
          <a:p>
            <a:pPr>
              <a:buAutoNum type="arabicPeriod"/>
            </a:pPr>
            <a:endParaRPr lang="en-US" dirty="0"/>
          </a:p>
        </p:txBody>
      </p:sp>
      <p:sp>
        <p:nvSpPr>
          <p:cNvPr id="4" name="Date Placeholder 3">
            <a:extLst>
              <a:ext uri="{FF2B5EF4-FFF2-40B4-BE49-F238E27FC236}">
                <a16:creationId xmlns:a16="http://schemas.microsoft.com/office/drawing/2014/main" id="{45514FC8-D0EA-9E6E-757D-9588510261F8}"/>
              </a:ext>
            </a:extLst>
          </p:cNvPr>
          <p:cNvSpPr>
            <a:spLocks noGrp="1"/>
          </p:cNvSpPr>
          <p:nvPr>
            <p:ph type="dt" sz="half" idx="10"/>
          </p:nvPr>
        </p:nvSpPr>
        <p:spPr/>
        <p:txBody>
          <a:bodyPr/>
          <a:lstStyle/>
          <a:p>
            <a:fld id="{EBDF8A5B-B00B-4CB3-867D-78F9B008221E}" type="datetime1">
              <a:t>9/13/2026</a:t>
            </a:fld>
            <a:endParaRPr lang="en-US" dirty="0"/>
          </a:p>
        </p:txBody>
      </p:sp>
      <p:sp>
        <p:nvSpPr>
          <p:cNvPr id="5" name="Footer Placeholder 4">
            <a:extLst>
              <a:ext uri="{FF2B5EF4-FFF2-40B4-BE49-F238E27FC236}">
                <a16:creationId xmlns:a16="http://schemas.microsoft.com/office/drawing/2014/main" id="{9DEFB6E1-6BD3-06E8-634B-0507B4F7E1C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E473ABB-78C6-65AB-160B-4F85471F59E8}"/>
              </a:ext>
            </a:extLst>
          </p:cNvPr>
          <p:cNvSpPr>
            <a:spLocks noGrp="1"/>
          </p:cNvSpPr>
          <p:nvPr>
            <p:ph type="sldNum" sz="quarter" idx="12"/>
          </p:nvPr>
        </p:nvSpPr>
        <p:spPr/>
        <p:txBody>
          <a:bodyPr/>
          <a:lstStyle/>
          <a:p>
            <a:fld id="{5E4DE196-8A13-4FF7-A07E-102851959EAB}" type="slidenum">
              <a:rPr lang="en-US" dirty="0"/>
              <a:t>8</a:t>
            </a:fld>
            <a:endParaRPr lang="en-US" dirty="0"/>
          </a:p>
        </p:txBody>
      </p:sp>
    </p:spTree>
    <p:extLst>
      <p:ext uri="{BB962C8B-B14F-4D97-AF65-F5344CB8AC3E}">
        <p14:creationId xmlns:p14="http://schemas.microsoft.com/office/powerpoint/2010/main" val="379432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4" dur="5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51" dur="5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7"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BF0D7-43D5-C26E-38DA-DF15435D49E7}"/>
              </a:ext>
            </a:extLst>
          </p:cNvPr>
          <p:cNvSpPr>
            <a:spLocks noGrp="1"/>
          </p:cNvSpPr>
          <p:nvPr>
            <p:ph type="title"/>
          </p:nvPr>
        </p:nvSpPr>
        <p:spPr/>
        <p:txBody>
          <a:bodyPr/>
          <a:lstStyle/>
          <a:p>
            <a:r>
              <a:rPr lang="en-US" dirty="0"/>
              <a:t>What are some of the most important technologies for data privacy?</a:t>
            </a:r>
          </a:p>
        </p:txBody>
      </p:sp>
      <p:sp>
        <p:nvSpPr>
          <p:cNvPr id="3" name="Content Placeholder 2">
            <a:extLst>
              <a:ext uri="{FF2B5EF4-FFF2-40B4-BE49-F238E27FC236}">
                <a16:creationId xmlns:a16="http://schemas.microsoft.com/office/drawing/2014/main" id="{79B5418F-8396-900A-8CFB-91474603EE1F}"/>
              </a:ext>
            </a:extLst>
          </p:cNvPr>
          <p:cNvSpPr>
            <a:spLocks noGrp="1"/>
          </p:cNvSpPr>
          <p:nvPr>
            <p:ph idx="1"/>
          </p:nvPr>
        </p:nvSpPr>
        <p:spPr>
          <a:xfrm>
            <a:off x="867798" y="2157984"/>
            <a:ext cx="6943264" cy="3903819"/>
          </a:xfrm>
        </p:spPr>
        <p:txBody>
          <a:bodyPr vert="horz" lIns="91440" tIns="45720" rIns="91440" bIns="45720" rtlCol="0" anchor="t">
            <a:normAutofit/>
          </a:bodyPr>
          <a:lstStyle/>
          <a:p>
            <a:r>
              <a:rPr lang="en-US" sz="1800" b="1" dirty="0">
                <a:ea typeface="+mn-lt"/>
                <a:cs typeface="+mn-lt"/>
              </a:rPr>
              <a:t>Encryption</a:t>
            </a:r>
            <a:r>
              <a:rPr lang="en-US" dirty="0">
                <a:ea typeface="+mn-lt"/>
                <a:cs typeface="+mn-lt"/>
              </a:rPr>
              <a:t> is a way to conceal information by scrambling it so that it appears to be random data. Only parties with the encryption key can unscramble the information.</a:t>
            </a:r>
            <a:endParaRPr lang="en-US" dirty="0"/>
          </a:p>
          <a:p>
            <a:r>
              <a:rPr lang="en-US" sz="1800" b="1" dirty="0">
                <a:ea typeface="+mn-lt"/>
                <a:cs typeface="+mn-lt"/>
              </a:rPr>
              <a:t>Access Control</a:t>
            </a:r>
            <a:r>
              <a:rPr lang="en-US" dirty="0">
                <a:ea typeface="+mn-lt"/>
                <a:cs typeface="+mn-lt"/>
              </a:rPr>
              <a:t> ensures that only authorized parties access systems and data. Access control can be combined with data loss prevention(DLP) to stop sensitive data from leaving the network.</a:t>
            </a:r>
            <a:endParaRPr lang="en-US" dirty="0"/>
          </a:p>
          <a:p>
            <a:r>
              <a:rPr lang="en-US" sz="1800" b="1" dirty="0">
                <a:ea typeface="+mn-lt"/>
                <a:cs typeface="+mn-lt"/>
              </a:rPr>
              <a:t>Two-Factor Authentication</a:t>
            </a:r>
            <a:r>
              <a:rPr lang="en-US" dirty="0">
                <a:ea typeface="+mn-lt"/>
                <a:cs typeface="+mn-lt"/>
              </a:rPr>
              <a:t> is one of the most important technologies for regular users, as it makes it far harder for attackers to gain unauthorized access to personal accounts.</a:t>
            </a:r>
            <a:endParaRPr lang="en-US" dirty="0"/>
          </a:p>
          <a:p>
            <a:endParaRPr lang="en-US" dirty="0"/>
          </a:p>
        </p:txBody>
      </p:sp>
      <p:sp>
        <p:nvSpPr>
          <p:cNvPr id="4" name="Date Placeholder 3">
            <a:extLst>
              <a:ext uri="{FF2B5EF4-FFF2-40B4-BE49-F238E27FC236}">
                <a16:creationId xmlns:a16="http://schemas.microsoft.com/office/drawing/2014/main" id="{947825F3-090B-32BA-912C-2E1C486ED355}"/>
              </a:ext>
            </a:extLst>
          </p:cNvPr>
          <p:cNvSpPr>
            <a:spLocks noGrp="1"/>
          </p:cNvSpPr>
          <p:nvPr>
            <p:ph type="dt" sz="half" idx="10"/>
          </p:nvPr>
        </p:nvSpPr>
        <p:spPr/>
        <p:txBody>
          <a:bodyPr/>
          <a:lstStyle/>
          <a:p>
            <a:fld id="{7D18DEAA-7D8D-4D2D-99D2-6F64B130C2DC}" type="datetime1">
              <a:t>9/13/2026</a:t>
            </a:fld>
            <a:endParaRPr lang="en-US" dirty="0"/>
          </a:p>
        </p:txBody>
      </p:sp>
      <p:sp>
        <p:nvSpPr>
          <p:cNvPr id="5" name="Footer Placeholder 4">
            <a:extLst>
              <a:ext uri="{FF2B5EF4-FFF2-40B4-BE49-F238E27FC236}">
                <a16:creationId xmlns:a16="http://schemas.microsoft.com/office/drawing/2014/main" id="{CACCAFF4-4602-A770-E968-592B2EBDEED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7271504-CE87-1815-0EEF-11872DB139D9}"/>
              </a:ext>
            </a:extLst>
          </p:cNvPr>
          <p:cNvSpPr>
            <a:spLocks noGrp="1"/>
          </p:cNvSpPr>
          <p:nvPr>
            <p:ph type="sldNum" sz="quarter" idx="12"/>
          </p:nvPr>
        </p:nvSpPr>
        <p:spPr/>
        <p:txBody>
          <a:bodyPr/>
          <a:lstStyle/>
          <a:p>
            <a:fld id="{5E4DE196-8A13-4FF7-A07E-102851959EAB}" type="slidenum">
              <a:rPr lang="en-US" dirty="0"/>
              <a:t>9</a:t>
            </a:fld>
            <a:endParaRPr lang="en-US" dirty="0"/>
          </a:p>
        </p:txBody>
      </p:sp>
      <p:pic>
        <p:nvPicPr>
          <p:cNvPr id="7" name="Picture 6">
            <a:extLst>
              <a:ext uri="{FF2B5EF4-FFF2-40B4-BE49-F238E27FC236}">
                <a16:creationId xmlns:a16="http://schemas.microsoft.com/office/drawing/2014/main" id="{FE41C381-B89E-F40A-8439-AFB6B172B439}"/>
              </a:ext>
            </a:extLst>
          </p:cNvPr>
          <p:cNvPicPr>
            <a:picLocks noChangeAspect="1"/>
          </p:cNvPicPr>
          <p:nvPr/>
        </p:nvPicPr>
        <p:blipFill>
          <a:blip r:embed="rId2"/>
          <a:stretch>
            <a:fillRect/>
          </a:stretch>
        </p:blipFill>
        <p:spPr>
          <a:xfrm>
            <a:off x="7960097" y="2478795"/>
            <a:ext cx="3359328" cy="2212555"/>
          </a:xfrm>
          <a:prstGeom prst="rect">
            <a:avLst/>
          </a:prstGeom>
        </p:spPr>
      </p:pic>
    </p:spTree>
    <p:extLst>
      <p:ext uri="{BB962C8B-B14F-4D97-AF65-F5344CB8AC3E}">
        <p14:creationId xmlns:p14="http://schemas.microsoft.com/office/powerpoint/2010/main" val="200910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F4C0-3C26-884B-8016-284BD9D6EF97}"/>
              </a:ext>
            </a:extLst>
          </p:cNvPr>
          <p:cNvSpPr>
            <a:spLocks noGrp="1"/>
          </p:cNvSpPr>
          <p:nvPr>
            <p:ph type="title"/>
          </p:nvPr>
        </p:nvSpPr>
        <p:spPr/>
        <p:txBody>
          <a:bodyPr/>
          <a:lstStyle/>
          <a:p>
            <a:r>
              <a:rPr lang="en-US" dirty="0"/>
              <a:t>What is Data Security?</a:t>
            </a:r>
          </a:p>
        </p:txBody>
      </p:sp>
      <p:sp>
        <p:nvSpPr>
          <p:cNvPr id="3" name="Content Placeholder 2">
            <a:extLst>
              <a:ext uri="{FF2B5EF4-FFF2-40B4-BE49-F238E27FC236}">
                <a16:creationId xmlns:a16="http://schemas.microsoft.com/office/drawing/2014/main" id="{2BC958A5-AF2F-C4A4-FB67-67C4E8821D0E}"/>
              </a:ext>
            </a:extLst>
          </p:cNvPr>
          <p:cNvSpPr>
            <a:spLocks noGrp="1"/>
          </p:cNvSpPr>
          <p:nvPr>
            <p:ph idx="1"/>
          </p:nvPr>
        </p:nvSpPr>
        <p:spPr/>
        <p:txBody>
          <a:bodyPr vert="horz" lIns="91440" tIns="45720" rIns="91440" bIns="45720" rtlCol="0" anchor="t">
            <a:normAutofit/>
          </a:bodyPr>
          <a:lstStyle/>
          <a:p>
            <a:r>
              <a:rPr lang="en-US" b="1" dirty="0">
                <a:ea typeface="+mn-lt"/>
                <a:cs typeface="+mn-lt"/>
              </a:rPr>
              <a:t>Data security</a:t>
            </a:r>
            <a:r>
              <a:rPr lang="en-US" dirty="0">
                <a:ea typeface="+mn-lt"/>
                <a:cs typeface="+mn-lt"/>
              </a:rPr>
              <a:t> is the process of safeguarding digital information throughout its entire life cycle to protect it from corruption, theft, or unauthorized access. It covers everything—hardware, software, storage devices, and user devices; access and administrative controls; and organizations’ policies and procedures.</a:t>
            </a:r>
            <a:endParaRPr lang="en-US" dirty="0"/>
          </a:p>
          <a:p>
            <a:r>
              <a:rPr lang="en-US" dirty="0">
                <a:ea typeface="+mn-lt"/>
                <a:cs typeface="+mn-lt"/>
              </a:rPr>
              <a:t>Data security uses tools and technologies that enhance visibility of a company's data and how it is being used. These tools can protect data through processes like data masking, encryption, and redaction of sensitive information. The process also helps organizations streamline their auditing procedures and comply with increasingly stringent data protection regulations.</a:t>
            </a:r>
            <a:endParaRPr lang="en-US" dirty="0"/>
          </a:p>
          <a:p>
            <a:r>
              <a:rPr lang="en-US" dirty="0">
                <a:ea typeface="+mn-lt"/>
                <a:cs typeface="+mn-lt"/>
              </a:rPr>
              <a:t>A robust data security management and strategy process enables an organization to protect its information against cyberattacks. It also helps them minimize the risk of human error and insider threats, which continue to be the cause of many data breaches. </a:t>
            </a:r>
            <a:endParaRPr lang="en-US" dirty="0"/>
          </a:p>
          <a:p>
            <a:endParaRPr lang="en-US" dirty="0"/>
          </a:p>
        </p:txBody>
      </p:sp>
      <p:sp>
        <p:nvSpPr>
          <p:cNvPr id="4" name="Date Placeholder 3">
            <a:extLst>
              <a:ext uri="{FF2B5EF4-FFF2-40B4-BE49-F238E27FC236}">
                <a16:creationId xmlns:a16="http://schemas.microsoft.com/office/drawing/2014/main" id="{D720A934-E990-2D87-9A57-47ABC5E0A279}"/>
              </a:ext>
            </a:extLst>
          </p:cNvPr>
          <p:cNvSpPr>
            <a:spLocks noGrp="1"/>
          </p:cNvSpPr>
          <p:nvPr>
            <p:ph type="dt" sz="half" idx="10"/>
          </p:nvPr>
        </p:nvSpPr>
        <p:spPr/>
        <p:txBody>
          <a:bodyPr/>
          <a:lstStyle/>
          <a:p>
            <a:fld id="{C52A9857-E675-4CE2-AFDC-1241E76CF779}" type="datetime1">
              <a:t>9/13/2026</a:t>
            </a:fld>
            <a:endParaRPr lang="en-US" dirty="0"/>
          </a:p>
        </p:txBody>
      </p:sp>
      <p:sp>
        <p:nvSpPr>
          <p:cNvPr id="5" name="Footer Placeholder 4">
            <a:extLst>
              <a:ext uri="{FF2B5EF4-FFF2-40B4-BE49-F238E27FC236}">
                <a16:creationId xmlns:a16="http://schemas.microsoft.com/office/drawing/2014/main" id="{8C68AE31-CCC3-794F-D6BE-AEDCB15BFAE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9A9C6DD-6B16-BDBE-BF16-CFFFD4113D69}"/>
              </a:ext>
            </a:extLst>
          </p:cNvPr>
          <p:cNvSpPr>
            <a:spLocks noGrp="1"/>
          </p:cNvSpPr>
          <p:nvPr>
            <p:ph type="sldNum" sz="quarter" idx="12"/>
          </p:nvPr>
        </p:nvSpPr>
        <p:spPr/>
        <p:txBody>
          <a:bodyPr/>
          <a:lstStyle/>
          <a:p>
            <a:fld id="{5E4DE196-8A13-4FF7-A07E-102851959EAB}" type="slidenum">
              <a:rPr lang="en-US" dirty="0"/>
              <a:t>10</a:t>
            </a:fld>
            <a:endParaRPr lang="en-US" dirty="0"/>
          </a:p>
        </p:txBody>
      </p:sp>
    </p:spTree>
    <p:extLst>
      <p:ext uri="{BB962C8B-B14F-4D97-AF65-F5344CB8AC3E}">
        <p14:creationId xmlns:p14="http://schemas.microsoft.com/office/powerpoint/2010/main" val="1385980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0BC0-9AA3-C9F4-6C07-2E5941E48DA8}"/>
              </a:ext>
            </a:extLst>
          </p:cNvPr>
          <p:cNvSpPr>
            <a:spLocks noGrp="1"/>
          </p:cNvSpPr>
          <p:nvPr>
            <p:ph type="title"/>
          </p:nvPr>
        </p:nvSpPr>
        <p:spPr/>
        <p:txBody>
          <a:bodyPr/>
          <a:lstStyle/>
          <a:p>
            <a:r>
              <a:rPr lang="en-US" dirty="0"/>
              <a:t>Benefits Of Data Security </a:t>
            </a:r>
          </a:p>
        </p:txBody>
      </p:sp>
      <p:sp>
        <p:nvSpPr>
          <p:cNvPr id="3" name="Content Placeholder 2">
            <a:extLst>
              <a:ext uri="{FF2B5EF4-FFF2-40B4-BE49-F238E27FC236}">
                <a16:creationId xmlns:a16="http://schemas.microsoft.com/office/drawing/2014/main" id="{0E295168-03F5-08D7-6694-FCA126481A0D}"/>
              </a:ext>
            </a:extLst>
          </p:cNvPr>
          <p:cNvSpPr>
            <a:spLocks noGrp="1"/>
          </p:cNvSpPr>
          <p:nvPr>
            <p:ph idx="1"/>
          </p:nvPr>
        </p:nvSpPr>
        <p:spPr/>
        <p:txBody>
          <a:bodyPr vert="horz" lIns="91440" tIns="45720" rIns="91440" bIns="45720" rtlCol="0" anchor="t">
            <a:normAutofit/>
          </a:bodyPr>
          <a:lstStyle/>
          <a:p>
            <a:r>
              <a:rPr lang="en-US" b="1" dirty="0">
                <a:ea typeface="+mn-lt"/>
                <a:cs typeface="+mn-lt"/>
              </a:rPr>
              <a:t>Keeps your information safe:</a:t>
            </a:r>
            <a:r>
              <a:rPr lang="en-US" dirty="0">
                <a:ea typeface="+mn-lt"/>
                <a:cs typeface="+mn-lt"/>
              </a:rPr>
              <a:t> By adopting a mindset focused on data security and implementing the right set of tools, you ensure sensitive data does not fall into the wrong hands. With a data security program created to meet the specific needs of your organization, this info stays safe and secure.</a:t>
            </a:r>
            <a:endParaRPr lang="en-US" dirty="0"/>
          </a:p>
          <a:p>
            <a:r>
              <a:rPr lang="en-US" b="1" dirty="0">
                <a:ea typeface="+mn-lt"/>
                <a:cs typeface="+mn-lt"/>
              </a:rPr>
              <a:t>Helps keep your reputation clean:</a:t>
            </a:r>
            <a:r>
              <a:rPr lang="en-US" dirty="0">
                <a:ea typeface="+mn-lt"/>
                <a:cs typeface="+mn-lt"/>
              </a:rPr>
              <a:t> When people do business with your organization, they entrust their sensitive information to you, and a data security strategy enables you to provide the protection they need.</a:t>
            </a:r>
            <a:endParaRPr lang="en-US" dirty="0"/>
          </a:p>
          <a:p>
            <a:r>
              <a:rPr lang="en-US" b="1" dirty="0">
                <a:ea typeface="+mn-lt"/>
                <a:cs typeface="+mn-lt"/>
              </a:rPr>
              <a:t>Gives you a competitive edge:</a:t>
            </a:r>
            <a:r>
              <a:rPr lang="en-US" dirty="0">
                <a:ea typeface="+mn-lt"/>
                <a:cs typeface="+mn-lt"/>
              </a:rPr>
              <a:t> In many industries, data breaches are commonplace, so if you can keep data secure, you set yourself apart from the competition, which may be struggling to do the same.</a:t>
            </a:r>
            <a:endParaRPr lang="en-US" dirty="0"/>
          </a:p>
          <a:p>
            <a:r>
              <a:rPr lang="en-US" b="1" dirty="0">
                <a:ea typeface="+mn-lt"/>
                <a:cs typeface="+mn-lt"/>
              </a:rPr>
              <a:t>Saves on support and development costs:</a:t>
            </a:r>
            <a:r>
              <a:rPr lang="en-US" dirty="0">
                <a:ea typeface="+mn-lt"/>
                <a:cs typeface="+mn-lt"/>
              </a:rPr>
              <a:t> If you incorporate data security measures early in the development process, you may not have to spend valuable resources for designing and deploying patches or fixing coding problems down the road.</a:t>
            </a:r>
            <a:endParaRPr lang="en-US" dirty="0"/>
          </a:p>
          <a:p>
            <a:endParaRPr lang="en-US" dirty="0"/>
          </a:p>
        </p:txBody>
      </p:sp>
      <p:sp>
        <p:nvSpPr>
          <p:cNvPr id="4" name="Date Placeholder 3">
            <a:extLst>
              <a:ext uri="{FF2B5EF4-FFF2-40B4-BE49-F238E27FC236}">
                <a16:creationId xmlns:a16="http://schemas.microsoft.com/office/drawing/2014/main" id="{62AD8F75-326B-C379-0D5B-D55D513DA2A7}"/>
              </a:ext>
            </a:extLst>
          </p:cNvPr>
          <p:cNvSpPr>
            <a:spLocks noGrp="1"/>
          </p:cNvSpPr>
          <p:nvPr>
            <p:ph type="dt" sz="half" idx="10"/>
          </p:nvPr>
        </p:nvSpPr>
        <p:spPr/>
        <p:txBody>
          <a:bodyPr/>
          <a:lstStyle/>
          <a:p>
            <a:fld id="{419DE06E-3A13-4E24-AA9A-E26B79612F3F}" type="datetime1">
              <a:t>9/13/2026</a:t>
            </a:fld>
            <a:endParaRPr lang="en-US" dirty="0"/>
          </a:p>
        </p:txBody>
      </p:sp>
      <p:sp>
        <p:nvSpPr>
          <p:cNvPr id="5" name="Footer Placeholder 4">
            <a:extLst>
              <a:ext uri="{FF2B5EF4-FFF2-40B4-BE49-F238E27FC236}">
                <a16:creationId xmlns:a16="http://schemas.microsoft.com/office/drawing/2014/main" id="{C1F8935C-F3CB-6593-857E-7BA334173DB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80B290B-7F0B-AC5D-43D0-D6D20634808B}"/>
              </a:ext>
            </a:extLst>
          </p:cNvPr>
          <p:cNvSpPr>
            <a:spLocks noGrp="1"/>
          </p:cNvSpPr>
          <p:nvPr>
            <p:ph type="sldNum" sz="quarter" idx="12"/>
          </p:nvPr>
        </p:nvSpPr>
        <p:spPr/>
        <p:txBody>
          <a:bodyPr/>
          <a:lstStyle/>
          <a:p>
            <a:fld id="{5E4DE196-8A13-4FF7-A07E-102851959EAB}" type="slidenum">
              <a:rPr lang="en-US" dirty="0"/>
              <a:t>11</a:t>
            </a:fld>
            <a:endParaRPr lang="en-US" dirty="0"/>
          </a:p>
        </p:txBody>
      </p:sp>
    </p:spTree>
    <p:extLst>
      <p:ext uri="{BB962C8B-B14F-4D97-AF65-F5344CB8AC3E}">
        <p14:creationId xmlns:p14="http://schemas.microsoft.com/office/powerpoint/2010/main" val="905508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7248-778B-FA46-A364-E089329C04D4}"/>
              </a:ext>
            </a:extLst>
          </p:cNvPr>
          <p:cNvSpPr>
            <a:spLocks noGrp="1"/>
          </p:cNvSpPr>
          <p:nvPr>
            <p:ph type="title"/>
          </p:nvPr>
        </p:nvSpPr>
        <p:spPr/>
        <p:txBody>
          <a:bodyPr/>
          <a:lstStyle/>
          <a:p>
            <a:r>
              <a:rPr lang="en-US" dirty="0"/>
              <a:t>Biggest Data Security Risks </a:t>
            </a:r>
          </a:p>
        </p:txBody>
      </p:sp>
      <p:sp>
        <p:nvSpPr>
          <p:cNvPr id="3" name="Content Placeholder 2">
            <a:extLst>
              <a:ext uri="{FF2B5EF4-FFF2-40B4-BE49-F238E27FC236}">
                <a16:creationId xmlns:a16="http://schemas.microsoft.com/office/drawing/2014/main" id="{077B460C-46C9-2CB7-BA4F-300AA98E5B30}"/>
              </a:ext>
            </a:extLst>
          </p:cNvPr>
          <p:cNvSpPr>
            <a:spLocks noGrp="1"/>
          </p:cNvSpPr>
          <p:nvPr>
            <p:ph idx="1"/>
          </p:nvPr>
        </p:nvSpPr>
        <p:spPr/>
        <p:txBody>
          <a:bodyPr vert="horz" lIns="91440" tIns="45720" rIns="91440" bIns="45720" rtlCol="0" anchor="t">
            <a:normAutofit lnSpcReduction="10000"/>
          </a:bodyPr>
          <a:lstStyle/>
          <a:p>
            <a:r>
              <a:rPr lang="en-US" b="1" dirty="0"/>
              <a:t>Accidental data exposure </a:t>
            </a:r>
          </a:p>
          <a:p>
            <a:pPr lvl="1"/>
            <a:r>
              <a:rPr lang="en-US" dirty="0">
                <a:ea typeface="+mn-lt"/>
                <a:cs typeface="+mn-lt"/>
              </a:rPr>
              <a:t>Many data breaches are not a result of hacking but through employees accidentally or negligently exposing sensitive information. Employees can easily lose, share, or grant access to data with the wrong person, or mishandle or lose information because they are not aware of their company’s security policies.</a:t>
            </a:r>
            <a:endParaRPr lang="en-US"/>
          </a:p>
          <a:p>
            <a:r>
              <a:rPr lang="en-US" b="1" dirty="0"/>
              <a:t>Phishing attacks </a:t>
            </a:r>
          </a:p>
          <a:p>
            <a:pPr lvl="1"/>
            <a:r>
              <a:rPr lang="en-US" dirty="0">
                <a:ea typeface="+mn-lt"/>
                <a:cs typeface="+mn-lt"/>
              </a:rPr>
              <a:t>This is a type of cyber fraud where criminals send fake messages pretending to be trusted sources to steal personal data, passwords, or money. </a:t>
            </a:r>
            <a:endParaRPr lang="en-US"/>
          </a:p>
          <a:p>
            <a:r>
              <a:rPr lang="en-US" b="1" dirty="0"/>
              <a:t>Malware</a:t>
            </a:r>
          </a:p>
          <a:p>
            <a:pPr lvl="1"/>
            <a:r>
              <a:rPr lang="en-US" dirty="0">
                <a:ea typeface="+mn-lt"/>
                <a:cs typeface="+mn-lt"/>
              </a:rPr>
              <a:t>Malware, short for malicious software, is any program or code designed to damage, disrupt, or gain unauthorized access to a computer system, network, or mobile device.</a:t>
            </a:r>
            <a:endParaRPr lang="en-US" dirty="0"/>
          </a:p>
          <a:p>
            <a:r>
              <a:rPr lang="en-US" sz="1400" b="1" dirty="0"/>
              <a:t>Ransomware</a:t>
            </a:r>
          </a:p>
          <a:p>
            <a:pPr lvl="1"/>
            <a:r>
              <a:rPr lang="en-US" dirty="0">
                <a:ea typeface="+mn-lt"/>
                <a:cs typeface="+mn-lt"/>
              </a:rPr>
              <a:t>Ransomware is a type of malicious software (malware) that locks your device or encrypts your files, making them completely unreadable or inaccessible until you pay a ransom</a:t>
            </a:r>
            <a:endParaRPr lang="en-US" dirty="0"/>
          </a:p>
          <a:p>
            <a:endParaRPr lang="en-US" dirty="0"/>
          </a:p>
        </p:txBody>
      </p:sp>
      <p:sp>
        <p:nvSpPr>
          <p:cNvPr id="4" name="Date Placeholder 3">
            <a:extLst>
              <a:ext uri="{FF2B5EF4-FFF2-40B4-BE49-F238E27FC236}">
                <a16:creationId xmlns:a16="http://schemas.microsoft.com/office/drawing/2014/main" id="{C2B6545E-FE46-D7E8-B18D-B48CFF3C78C4}"/>
              </a:ext>
            </a:extLst>
          </p:cNvPr>
          <p:cNvSpPr>
            <a:spLocks noGrp="1"/>
          </p:cNvSpPr>
          <p:nvPr>
            <p:ph type="dt" sz="half" idx="10"/>
          </p:nvPr>
        </p:nvSpPr>
        <p:spPr/>
        <p:txBody>
          <a:bodyPr/>
          <a:lstStyle/>
          <a:p>
            <a:fld id="{374C7505-CDA3-43B8-AB1C-32F84FE2502B}" type="datetime1">
              <a:t>9/13/2026</a:t>
            </a:fld>
            <a:endParaRPr lang="en-US" dirty="0"/>
          </a:p>
        </p:txBody>
      </p:sp>
      <p:sp>
        <p:nvSpPr>
          <p:cNvPr id="5" name="Footer Placeholder 4">
            <a:extLst>
              <a:ext uri="{FF2B5EF4-FFF2-40B4-BE49-F238E27FC236}">
                <a16:creationId xmlns:a16="http://schemas.microsoft.com/office/drawing/2014/main" id="{4EEA5A9F-F981-0643-DC3B-BB18385031F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DCF380-EDDD-74C2-4232-8CA0663F4556}"/>
              </a:ext>
            </a:extLst>
          </p:cNvPr>
          <p:cNvSpPr>
            <a:spLocks noGrp="1"/>
          </p:cNvSpPr>
          <p:nvPr>
            <p:ph type="sldNum" sz="quarter" idx="12"/>
          </p:nvPr>
        </p:nvSpPr>
        <p:spPr/>
        <p:txBody>
          <a:bodyPr/>
          <a:lstStyle/>
          <a:p>
            <a:fld id="{5E4DE196-8A13-4FF7-A07E-102851959EAB}" type="slidenum">
              <a:rPr lang="en-US" dirty="0"/>
              <a:t>12</a:t>
            </a:fld>
            <a:endParaRPr lang="en-US" dirty="0"/>
          </a:p>
        </p:txBody>
      </p:sp>
    </p:spTree>
    <p:extLst>
      <p:ext uri="{BB962C8B-B14F-4D97-AF65-F5344CB8AC3E}">
        <p14:creationId xmlns:p14="http://schemas.microsoft.com/office/powerpoint/2010/main" val="1851098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9E670-4416-D89B-296B-225F887008A3}"/>
              </a:ext>
            </a:extLst>
          </p:cNvPr>
          <p:cNvSpPr>
            <a:spLocks noGrp="1"/>
          </p:cNvSpPr>
          <p:nvPr>
            <p:ph type="title"/>
          </p:nvPr>
        </p:nvSpPr>
        <p:spPr/>
        <p:txBody>
          <a:bodyPr/>
          <a:lstStyle/>
          <a:p>
            <a:r>
              <a:rPr lang="en-US" dirty="0"/>
              <a:t>Critical Data Security Solutions</a:t>
            </a:r>
            <a:r>
              <a:rPr lang="en-US" b="1" dirty="0"/>
              <a:t> </a:t>
            </a:r>
            <a:endParaRPr lang="en-US" dirty="0"/>
          </a:p>
        </p:txBody>
      </p:sp>
      <p:sp>
        <p:nvSpPr>
          <p:cNvPr id="3" name="Content Placeholder 2">
            <a:extLst>
              <a:ext uri="{FF2B5EF4-FFF2-40B4-BE49-F238E27FC236}">
                <a16:creationId xmlns:a16="http://schemas.microsoft.com/office/drawing/2014/main" id="{E1AC8813-BBE4-B505-E38E-CEC1F94BC2CD}"/>
              </a:ext>
            </a:extLst>
          </p:cNvPr>
          <p:cNvSpPr>
            <a:spLocks noGrp="1"/>
          </p:cNvSpPr>
          <p:nvPr>
            <p:ph idx="1"/>
          </p:nvPr>
        </p:nvSpPr>
        <p:spPr/>
        <p:txBody>
          <a:bodyPr vert="horz" lIns="91440" tIns="45720" rIns="91440" bIns="45720" rtlCol="0" anchor="t">
            <a:normAutofit/>
          </a:bodyPr>
          <a:lstStyle/>
          <a:p>
            <a:r>
              <a:rPr lang="en-US" dirty="0"/>
              <a:t>Access controls </a:t>
            </a:r>
          </a:p>
          <a:p>
            <a:pPr lvl="1"/>
            <a:r>
              <a:rPr lang="en-US" dirty="0">
                <a:ea typeface="+mn-lt"/>
                <a:cs typeface="+mn-lt"/>
              </a:rPr>
              <a:t>Access control is about deciding who gets to see or change data. A simple way to think about it is different keys for different rooms; some doors open for everyone, others only for a few people.</a:t>
            </a:r>
          </a:p>
          <a:p>
            <a:r>
              <a:rPr lang="en-US" dirty="0"/>
              <a:t>Cloud data security </a:t>
            </a:r>
          </a:p>
          <a:p>
            <a:pPr lvl="1"/>
            <a:r>
              <a:rPr lang="en-US" dirty="0">
                <a:ea typeface="+mn-lt"/>
                <a:cs typeface="+mn-lt"/>
              </a:rPr>
              <a:t>Cloud data security protects digital information stored, processed, or moving within cloud environments from unauthorized access, theft, loss, or corruption. </a:t>
            </a:r>
          </a:p>
          <a:p>
            <a:r>
              <a:rPr lang="en-US" dirty="0"/>
              <a:t>Data loss prevention</a:t>
            </a:r>
          </a:p>
          <a:p>
            <a:pPr lvl="1"/>
            <a:r>
              <a:rPr lang="en-US" dirty="0">
                <a:ea typeface="+mn-lt"/>
                <a:cs typeface="+mn-lt"/>
              </a:rPr>
              <a:t>Data loss prevention (DLP) enables organizations to detect and prevent potential data breaches.</a:t>
            </a:r>
          </a:p>
          <a:p>
            <a:r>
              <a:rPr lang="en-US" dirty="0"/>
              <a:t>Key management </a:t>
            </a:r>
          </a:p>
          <a:p>
            <a:pPr lvl="1"/>
            <a:r>
              <a:rPr lang="en-US" dirty="0">
                <a:ea typeface="+mn-lt"/>
                <a:cs typeface="+mn-lt"/>
              </a:rPr>
              <a:t>Key management involves the use of cryptographic keys to encrypt data. Public and private keys are used to encrypt then decrypt data, which enables secure data sharing.</a:t>
            </a:r>
            <a:endParaRPr lang="en-US" dirty="0"/>
          </a:p>
          <a:p>
            <a:pPr lvl="1"/>
            <a:endParaRPr lang="en-US" dirty="0"/>
          </a:p>
        </p:txBody>
      </p:sp>
      <p:sp>
        <p:nvSpPr>
          <p:cNvPr id="4" name="Date Placeholder 3">
            <a:extLst>
              <a:ext uri="{FF2B5EF4-FFF2-40B4-BE49-F238E27FC236}">
                <a16:creationId xmlns:a16="http://schemas.microsoft.com/office/drawing/2014/main" id="{8982C470-8C6B-6237-B578-732D0BE50AC1}"/>
              </a:ext>
            </a:extLst>
          </p:cNvPr>
          <p:cNvSpPr>
            <a:spLocks noGrp="1"/>
          </p:cNvSpPr>
          <p:nvPr>
            <p:ph type="dt" sz="half" idx="10"/>
          </p:nvPr>
        </p:nvSpPr>
        <p:spPr/>
        <p:txBody>
          <a:bodyPr/>
          <a:lstStyle/>
          <a:p>
            <a:fld id="{7C3D622D-07FC-4D35-BE9B-D8783A9E78E6}" type="datetime1">
              <a:t>9/13/2026</a:t>
            </a:fld>
            <a:endParaRPr lang="en-US" dirty="0"/>
          </a:p>
        </p:txBody>
      </p:sp>
      <p:sp>
        <p:nvSpPr>
          <p:cNvPr id="5" name="Footer Placeholder 4">
            <a:extLst>
              <a:ext uri="{FF2B5EF4-FFF2-40B4-BE49-F238E27FC236}">
                <a16:creationId xmlns:a16="http://schemas.microsoft.com/office/drawing/2014/main" id="{BD9EE2CC-7C80-B109-4032-98DD61CC869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B5C0C8D-DE71-1D5C-96F1-6CBC286EF51D}"/>
              </a:ext>
            </a:extLst>
          </p:cNvPr>
          <p:cNvSpPr>
            <a:spLocks noGrp="1"/>
          </p:cNvSpPr>
          <p:nvPr>
            <p:ph type="sldNum" sz="quarter" idx="12"/>
          </p:nvPr>
        </p:nvSpPr>
        <p:spPr/>
        <p:txBody>
          <a:bodyPr/>
          <a:lstStyle/>
          <a:p>
            <a:fld id="{5E4DE196-8A13-4FF7-A07E-102851959EAB}" type="slidenum">
              <a:rPr lang="en-US" dirty="0"/>
              <a:t>13</a:t>
            </a:fld>
            <a:endParaRPr lang="en-US" dirty="0"/>
          </a:p>
        </p:txBody>
      </p:sp>
    </p:spTree>
    <p:extLst>
      <p:ext uri="{BB962C8B-B14F-4D97-AF65-F5344CB8AC3E}">
        <p14:creationId xmlns:p14="http://schemas.microsoft.com/office/powerpoint/2010/main" val="3432908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F01EA-BBF2-7E29-B71D-E4777FFEE5B4}"/>
              </a:ext>
            </a:extLst>
          </p:cNvPr>
          <p:cNvSpPr>
            <a:spLocks noGrp="1"/>
          </p:cNvSpPr>
          <p:nvPr>
            <p:ph type="title"/>
          </p:nvPr>
        </p:nvSpPr>
        <p:spPr/>
        <p:txBody>
          <a:bodyPr/>
          <a:lstStyle/>
          <a:p>
            <a:r>
              <a:rPr lang="en-US" dirty="0"/>
              <a:t>Data Security Best Practices</a:t>
            </a:r>
          </a:p>
        </p:txBody>
      </p:sp>
      <p:sp>
        <p:nvSpPr>
          <p:cNvPr id="3" name="Content Placeholder 2">
            <a:extLst>
              <a:ext uri="{FF2B5EF4-FFF2-40B4-BE49-F238E27FC236}">
                <a16:creationId xmlns:a16="http://schemas.microsoft.com/office/drawing/2014/main" id="{CB2A993C-459E-3E21-4ECA-E18858D79859}"/>
              </a:ext>
            </a:extLst>
          </p:cNvPr>
          <p:cNvSpPr>
            <a:spLocks noGrp="1"/>
          </p:cNvSpPr>
          <p:nvPr>
            <p:ph idx="1"/>
          </p:nvPr>
        </p:nvSpPr>
        <p:spPr/>
        <p:txBody>
          <a:bodyPr vert="horz" lIns="91440" tIns="45720" rIns="91440" bIns="45720" rtlCol="0" anchor="t">
            <a:normAutofit/>
          </a:bodyPr>
          <a:lstStyle/>
          <a:p>
            <a:r>
              <a:rPr lang="en-US" dirty="0">
                <a:ea typeface="+mn-lt"/>
                <a:cs typeface="+mn-lt"/>
              </a:rPr>
              <a:t>Use long, unique passwords for each account</a:t>
            </a:r>
            <a:endParaRPr lang="en-US"/>
          </a:p>
          <a:p>
            <a:r>
              <a:rPr lang="en-US" dirty="0">
                <a:ea typeface="+mn-lt"/>
                <a:cs typeface="+mn-lt"/>
              </a:rPr>
              <a:t>Turn on multi-factor authentication whenever it’s available</a:t>
            </a:r>
            <a:endParaRPr lang="en-US"/>
          </a:p>
          <a:p>
            <a:r>
              <a:rPr lang="en-US" dirty="0">
                <a:ea typeface="+mn-lt"/>
                <a:cs typeface="+mn-lt"/>
              </a:rPr>
              <a:t>Keep devices and software up to date</a:t>
            </a:r>
            <a:endParaRPr lang="en-US"/>
          </a:p>
          <a:p>
            <a:r>
              <a:rPr lang="en-US" dirty="0">
                <a:ea typeface="+mn-lt"/>
                <a:cs typeface="+mn-lt"/>
              </a:rPr>
              <a:t>Store sensitive files in secure, encrypted locations</a:t>
            </a:r>
            <a:endParaRPr lang="en-US"/>
          </a:p>
          <a:p>
            <a:r>
              <a:rPr lang="en-US" dirty="0">
                <a:ea typeface="+mn-lt"/>
                <a:cs typeface="+mn-lt"/>
              </a:rPr>
              <a:t>Be cautious with emails, links, and attachments</a:t>
            </a:r>
            <a:endParaRPr lang="en-US"/>
          </a:p>
          <a:p>
            <a:r>
              <a:rPr lang="en-US" dirty="0">
                <a:ea typeface="+mn-lt"/>
                <a:cs typeface="+mn-lt"/>
              </a:rPr>
              <a:t>Take security awareness training seriously</a:t>
            </a:r>
            <a:endParaRPr lang="en-US"/>
          </a:p>
          <a:p>
            <a:r>
              <a:rPr lang="en-US" dirty="0">
                <a:ea typeface="+mn-lt"/>
                <a:cs typeface="+mn-lt"/>
              </a:rPr>
              <a:t>Review account activity and statements regularly</a:t>
            </a:r>
            <a:endParaRPr lang="en-US"/>
          </a:p>
          <a:p>
            <a:r>
              <a:rPr lang="en-US" dirty="0">
                <a:ea typeface="+mn-lt"/>
                <a:cs typeface="+mn-lt"/>
              </a:rPr>
              <a:t>Share personal information carefully, especially online</a:t>
            </a:r>
            <a:endParaRPr lang="en-US"/>
          </a:p>
          <a:p>
            <a:endParaRPr lang="en-US" dirty="0"/>
          </a:p>
        </p:txBody>
      </p:sp>
      <p:sp>
        <p:nvSpPr>
          <p:cNvPr id="4" name="Date Placeholder 3">
            <a:extLst>
              <a:ext uri="{FF2B5EF4-FFF2-40B4-BE49-F238E27FC236}">
                <a16:creationId xmlns:a16="http://schemas.microsoft.com/office/drawing/2014/main" id="{CC05370D-EE7F-3B60-0B5D-B5AC63AEAD42}"/>
              </a:ext>
            </a:extLst>
          </p:cNvPr>
          <p:cNvSpPr>
            <a:spLocks noGrp="1"/>
          </p:cNvSpPr>
          <p:nvPr>
            <p:ph type="dt" sz="half" idx="10"/>
          </p:nvPr>
        </p:nvSpPr>
        <p:spPr/>
        <p:txBody>
          <a:bodyPr/>
          <a:lstStyle/>
          <a:p>
            <a:fld id="{EBA57ABA-7A39-4C68-AC93-96357A92E97C}" type="datetime1">
              <a:t>9/13/2026</a:t>
            </a:fld>
            <a:endParaRPr lang="en-US" dirty="0"/>
          </a:p>
        </p:txBody>
      </p:sp>
      <p:sp>
        <p:nvSpPr>
          <p:cNvPr id="5" name="Footer Placeholder 4">
            <a:extLst>
              <a:ext uri="{FF2B5EF4-FFF2-40B4-BE49-F238E27FC236}">
                <a16:creationId xmlns:a16="http://schemas.microsoft.com/office/drawing/2014/main" id="{0487482A-B4B4-70CB-F554-EEFC55F9685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E65B9CD-0C94-FED4-BCF2-0FA574A24D48}"/>
              </a:ext>
            </a:extLst>
          </p:cNvPr>
          <p:cNvSpPr>
            <a:spLocks noGrp="1"/>
          </p:cNvSpPr>
          <p:nvPr>
            <p:ph type="sldNum" sz="quarter" idx="12"/>
          </p:nvPr>
        </p:nvSpPr>
        <p:spPr/>
        <p:txBody>
          <a:bodyPr/>
          <a:lstStyle/>
          <a:p>
            <a:fld id="{5E4DE196-8A13-4FF7-A07E-102851959EAB}" type="slidenum">
              <a:rPr lang="en-US" dirty="0"/>
              <a:t>14</a:t>
            </a:fld>
            <a:endParaRPr lang="en-US" dirty="0"/>
          </a:p>
        </p:txBody>
      </p:sp>
    </p:spTree>
    <p:extLst>
      <p:ext uri="{BB962C8B-B14F-4D97-AF65-F5344CB8AC3E}">
        <p14:creationId xmlns:p14="http://schemas.microsoft.com/office/powerpoint/2010/main" val="1247143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p:tgtEl>
                                          <p:spTgt spid="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7D1F-6AAA-DFF1-5EF0-949F905EC6D6}"/>
              </a:ext>
            </a:extLst>
          </p:cNvPr>
          <p:cNvSpPr>
            <a:spLocks noGrp="1"/>
          </p:cNvSpPr>
          <p:nvPr>
            <p:ph type="title"/>
          </p:nvPr>
        </p:nvSpPr>
        <p:spPr/>
        <p:txBody>
          <a:bodyPr>
            <a:normAutofit fontScale="90000"/>
          </a:bodyPr>
          <a:lstStyle/>
          <a:p>
            <a:r>
              <a:rPr lang="en-US" dirty="0"/>
              <a:t>What's the difference between data privacy vs. data security?</a:t>
            </a:r>
          </a:p>
        </p:txBody>
      </p:sp>
      <p:sp>
        <p:nvSpPr>
          <p:cNvPr id="3" name="Text Placeholder 2">
            <a:extLst>
              <a:ext uri="{FF2B5EF4-FFF2-40B4-BE49-F238E27FC236}">
                <a16:creationId xmlns:a16="http://schemas.microsoft.com/office/drawing/2014/main" id="{A9153FBA-9A2C-4A9C-EF26-8D0193EA7C79}"/>
              </a:ext>
            </a:extLst>
          </p:cNvPr>
          <p:cNvSpPr>
            <a:spLocks noGrp="1"/>
          </p:cNvSpPr>
          <p:nvPr>
            <p:ph type="body" idx="1"/>
          </p:nvPr>
        </p:nvSpPr>
        <p:spPr/>
        <p:txBody>
          <a:bodyPr/>
          <a:lstStyle/>
          <a:p>
            <a:pPr algn="ctr"/>
            <a:r>
              <a:rPr lang="en-US" sz="2000" dirty="0"/>
              <a:t>Data Privacy</a:t>
            </a:r>
          </a:p>
        </p:txBody>
      </p:sp>
      <p:sp>
        <p:nvSpPr>
          <p:cNvPr id="4" name="Content Placeholder 3">
            <a:extLst>
              <a:ext uri="{FF2B5EF4-FFF2-40B4-BE49-F238E27FC236}">
                <a16:creationId xmlns:a16="http://schemas.microsoft.com/office/drawing/2014/main" id="{04C7A68D-E8B4-85E1-B3BA-B4AF0E5E9105}"/>
              </a:ext>
            </a:extLst>
          </p:cNvPr>
          <p:cNvSpPr>
            <a:spLocks noGrp="1"/>
          </p:cNvSpPr>
          <p:nvPr>
            <p:ph sz="half" idx="2"/>
          </p:nvPr>
        </p:nvSpPr>
        <p:spPr/>
        <p:txBody>
          <a:bodyPr vert="horz" lIns="91440" tIns="45720" rIns="91440" bIns="45720" rtlCol="0" anchor="t">
            <a:normAutofit/>
          </a:bodyPr>
          <a:lstStyle/>
          <a:p>
            <a:r>
              <a:rPr lang="en-US" dirty="0">
                <a:ea typeface="+mn-lt"/>
                <a:cs typeface="+mn-lt"/>
              </a:rPr>
              <a:t>It focuses on the proper handling, consent, and governance of personal information.</a:t>
            </a:r>
          </a:p>
          <a:p>
            <a:r>
              <a:rPr lang="en-US" dirty="0">
                <a:ea typeface="+mn-lt"/>
                <a:cs typeface="+mn-lt"/>
              </a:rPr>
              <a:t>It answers the "why" and "how" of data usage—asking why data is collected and how it is shared.</a:t>
            </a:r>
          </a:p>
          <a:p>
            <a:r>
              <a:rPr lang="en-US" dirty="0">
                <a:ea typeface="+mn-lt"/>
                <a:cs typeface="+mn-lt"/>
              </a:rPr>
              <a:t>It gives individuals control over who can access their personal details.</a:t>
            </a:r>
          </a:p>
          <a:p>
            <a:r>
              <a:rPr lang="en-US" dirty="0">
                <a:ea typeface="+mn-lt"/>
                <a:cs typeface="+mn-lt"/>
              </a:rPr>
              <a:t>It is maintained through legal notices, consent forms, privacy policies, and user permissions.</a:t>
            </a:r>
          </a:p>
          <a:p>
            <a:r>
              <a:rPr lang="en-US" dirty="0">
                <a:ea typeface="+mn-lt"/>
                <a:cs typeface="+mn-lt"/>
              </a:rPr>
              <a:t>It is often overseen by a Data Protection Officer (DPO) or privacy manager.</a:t>
            </a:r>
          </a:p>
        </p:txBody>
      </p:sp>
      <p:sp>
        <p:nvSpPr>
          <p:cNvPr id="5" name="Text Placeholder 4">
            <a:extLst>
              <a:ext uri="{FF2B5EF4-FFF2-40B4-BE49-F238E27FC236}">
                <a16:creationId xmlns:a16="http://schemas.microsoft.com/office/drawing/2014/main" id="{C838FFD0-208F-712D-2C00-996159FB5659}"/>
              </a:ext>
            </a:extLst>
          </p:cNvPr>
          <p:cNvSpPr>
            <a:spLocks noGrp="1"/>
          </p:cNvSpPr>
          <p:nvPr>
            <p:ph type="body" sz="quarter" idx="3"/>
          </p:nvPr>
        </p:nvSpPr>
        <p:spPr/>
        <p:txBody>
          <a:bodyPr/>
          <a:lstStyle/>
          <a:p>
            <a:pPr algn="ctr"/>
            <a:r>
              <a:rPr lang="en-US" sz="2000" dirty="0"/>
              <a:t>Data security</a:t>
            </a:r>
          </a:p>
        </p:txBody>
      </p:sp>
      <p:sp>
        <p:nvSpPr>
          <p:cNvPr id="6" name="Content Placeholder 5">
            <a:extLst>
              <a:ext uri="{FF2B5EF4-FFF2-40B4-BE49-F238E27FC236}">
                <a16:creationId xmlns:a16="http://schemas.microsoft.com/office/drawing/2014/main" id="{EF36778C-8268-E906-2BC4-7B14F2128FCD}"/>
              </a:ext>
            </a:extLst>
          </p:cNvPr>
          <p:cNvSpPr>
            <a:spLocks noGrp="1"/>
          </p:cNvSpPr>
          <p:nvPr>
            <p:ph sz="quarter" idx="4"/>
          </p:nvPr>
        </p:nvSpPr>
        <p:spPr/>
        <p:txBody>
          <a:bodyPr vert="horz" lIns="91440" tIns="45720" rIns="91440" bIns="45720" rtlCol="0" anchor="t">
            <a:normAutofit/>
          </a:bodyPr>
          <a:lstStyle/>
          <a:p>
            <a:r>
              <a:rPr lang="en-US" dirty="0">
                <a:ea typeface="+mn-lt"/>
                <a:cs typeface="+mn-lt"/>
              </a:rPr>
              <a:t>It focuses on defending data and infrastructure from malicious attacks, theft, and unauthorized access.</a:t>
            </a:r>
          </a:p>
          <a:p>
            <a:r>
              <a:rPr lang="en-US" dirty="0">
                <a:ea typeface="+mn-lt"/>
                <a:cs typeface="+mn-lt"/>
              </a:rPr>
              <a:t>It answers the "how" of protection—asking how data is kept safe from bad actors.</a:t>
            </a:r>
          </a:p>
          <a:p>
            <a:r>
              <a:rPr lang="en-US" dirty="0">
                <a:ea typeface="+mn-lt"/>
                <a:cs typeface="+mn-lt"/>
              </a:rPr>
              <a:t>It prevents data corruption, deletion, leaks, or breaches.</a:t>
            </a:r>
          </a:p>
          <a:p>
            <a:r>
              <a:rPr lang="en-US" dirty="0">
                <a:ea typeface="+mn-lt"/>
                <a:cs typeface="+mn-lt"/>
              </a:rPr>
              <a:t>It is implemented via technical tools like encryption, firewalls, and multi-factor authentication.</a:t>
            </a:r>
          </a:p>
          <a:p>
            <a:r>
              <a:rPr lang="en-US" dirty="0">
                <a:ea typeface="+mn-lt"/>
                <a:cs typeface="+mn-lt"/>
              </a:rPr>
              <a:t>Itis typically managed by a Chief Information Security Officer (CISO) and IT security teams.</a:t>
            </a:r>
          </a:p>
        </p:txBody>
      </p:sp>
      <p:sp>
        <p:nvSpPr>
          <p:cNvPr id="7" name="Date Placeholder 6">
            <a:extLst>
              <a:ext uri="{FF2B5EF4-FFF2-40B4-BE49-F238E27FC236}">
                <a16:creationId xmlns:a16="http://schemas.microsoft.com/office/drawing/2014/main" id="{F2BD887F-7D12-1C04-C4A2-D7E45A879C4D}"/>
              </a:ext>
            </a:extLst>
          </p:cNvPr>
          <p:cNvSpPr>
            <a:spLocks noGrp="1"/>
          </p:cNvSpPr>
          <p:nvPr>
            <p:ph type="dt" sz="half" idx="10"/>
          </p:nvPr>
        </p:nvSpPr>
        <p:spPr/>
        <p:txBody>
          <a:bodyPr/>
          <a:lstStyle/>
          <a:p>
            <a:fld id="{AB699812-9815-481D-BB62-BD192C1D4B18}" type="datetime1">
              <a:t>9/13/2026</a:t>
            </a:fld>
            <a:endParaRPr lang="en-US" dirty="0"/>
          </a:p>
        </p:txBody>
      </p:sp>
      <p:sp>
        <p:nvSpPr>
          <p:cNvPr id="8" name="Footer Placeholder 7">
            <a:extLst>
              <a:ext uri="{FF2B5EF4-FFF2-40B4-BE49-F238E27FC236}">
                <a16:creationId xmlns:a16="http://schemas.microsoft.com/office/drawing/2014/main" id="{595D3EFE-0EDD-9CFA-5D23-7EF7090EA592}"/>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9E501CC6-C093-1971-C07E-565643260095}"/>
              </a:ext>
            </a:extLst>
          </p:cNvPr>
          <p:cNvSpPr>
            <a:spLocks noGrp="1"/>
          </p:cNvSpPr>
          <p:nvPr>
            <p:ph type="sldNum" sz="quarter" idx="12"/>
          </p:nvPr>
        </p:nvSpPr>
        <p:spPr/>
        <p:txBody>
          <a:bodyPr/>
          <a:lstStyle/>
          <a:p>
            <a:fld id="{5E4DE196-8A13-4FF7-A07E-102851959EAB}" type="slidenum">
              <a:rPr lang="en-US" dirty="0"/>
              <a:t>15</a:t>
            </a:fld>
            <a:endParaRPr lang="en-US" dirty="0"/>
          </a:p>
        </p:txBody>
      </p:sp>
    </p:spTree>
    <p:extLst>
      <p:ext uri="{BB962C8B-B14F-4D97-AF65-F5344CB8AC3E}">
        <p14:creationId xmlns:p14="http://schemas.microsoft.com/office/powerpoint/2010/main" val="116516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D3B41-834C-1C1E-DBD1-2CD70F4A25DB}"/>
              </a:ext>
            </a:extLst>
          </p:cNvPr>
          <p:cNvSpPr>
            <a:spLocks noGrp="1"/>
          </p:cNvSpPr>
          <p:nvPr>
            <p:ph type="title"/>
          </p:nvPr>
        </p:nvSpPr>
        <p:spPr/>
        <p:txBody>
          <a:bodyPr/>
          <a:lstStyle/>
          <a:p>
            <a:r>
              <a:rPr lang="en-US" dirty="0"/>
              <a:t>Conclusion</a:t>
            </a:r>
          </a:p>
        </p:txBody>
      </p:sp>
      <p:sp>
        <p:nvSpPr>
          <p:cNvPr id="4" name="Content Placeholder 3">
            <a:extLst>
              <a:ext uri="{FF2B5EF4-FFF2-40B4-BE49-F238E27FC236}">
                <a16:creationId xmlns:a16="http://schemas.microsoft.com/office/drawing/2014/main" id="{C6E661A9-D666-9BD6-49E0-3F7DC101544F}"/>
              </a:ext>
            </a:extLst>
          </p:cNvPr>
          <p:cNvSpPr>
            <a:spLocks noGrp="1"/>
          </p:cNvSpPr>
          <p:nvPr>
            <p:ph idx="1"/>
          </p:nvPr>
        </p:nvSpPr>
        <p:spPr/>
        <p:txBody>
          <a:bodyPr vert="horz" lIns="91440" tIns="45720" rIns="91440" bIns="45720" rtlCol="0" anchor="t">
            <a:normAutofit/>
          </a:bodyPr>
          <a:lstStyle/>
          <a:p>
            <a:r>
              <a:rPr lang="en-US" dirty="0">
                <a:ea typeface="+mn-lt"/>
                <a:cs typeface="+mn-lt"/>
              </a:rPr>
              <a:t>In conclusion, </a:t>
            </a:r>
            <a:r>
              <a:rPr lang="en-US" b="1" dirty="0">
                <a:ea typeface="+mn-lt"/>
                <a:cs typeface="+mn-lt"/>
              </a:rPr>
              <a:t>data security and data privacy are two different concepts</a:t>
            </a:r>
            <a:r>
              <a:rPr lang="en-US" dirty="0">
                <a:ea typeface="+mn-lt"/>
                <a:cs typeface="+mn-lt"/>
              </a:rPr>
              <a:t> with various areas of overlap.</a:t>
            </a:r>
          </a:p>
          <a:p>
            <a:r>
              <a:rPr lang="en-US" dirty="0">
                <a:ea typeface="+mn-lt"/>
                <a:cs typeface="+mn-lt"/>
              </a:rPr>
              <a:t>Data security is about protecting the </a:t>
            </a:r>
            <a:r>
              <a:rPr lang="en-US" b="1" dirty="0">
                <a:ea typeface="+mn-lt"/>
                <a:cs typeface="+mn-lt"/>
              </a:rPr>
              <a:t>availability and integrity of data</a:t>
            </a:r>
            <a:r>
              <a:rPr lang="en-US" dirty="0">
                <a:ea typeface="+mn-lt"/>
                <a:cs typeface="+mn-lt"/>
              </a:rPr>
              <a:t>, while data privacy concerns your </a:t>
            </a:r>
            <a:r>
              <a:rPr lang="en-US" b="1" dirty="0">
                <a:ea typeface="+mn-lt"/>
                <a:cs typeface="+mn-lt"/>
              </a:rPr>
              <a:t>data's confidentiality and use.</a:t>
            </a:r>
            <a:endParaRPr lang="en-US" b="1"/>
          </a:p>
          <a:p>
            <a:r>
              <a:rPr lang="en-US" dirty="0">
                <a:ea typeface="+mn-lt"/>
                <a:cs typeface="+mn-lt"/>
              </a:rPr>
              <a:t>Data security covers policies, methods, and the means to protect personal data, while data privacy deals with how that protected data is used.</a:t>
            </a:r>
            <a:endParaRPr lang="en-US" dirty="0"/>
          </a:p>
          <a:p>
            <a:r>
              <a:rPr lang="en-US" dirty="0">
                <a:ea typeface="+mn-lt"/>
                <a:cs typeface="+mn-lt"/>
              </a:rPr>
              <a:t>It's essential to understand both concepts and their differences to implement policies within that address them. </a:t>
            </a:r>
            <a:r>
              <a:rPr lang="en-US" b="1" dirty="0">
                <a:ea typeface="+mn-lt"/>
                <a:cs typeface="+mn-lt"/>
              </a:rPr>
              <a:t>Data protection and privacy laws are increasing globally</a:t>
            </a:r>
            <a:r>
              <a:rPr lang="en-US" dirty="0">
                <a:ea typeface="+mn-lt"/>
                <a:cs typeface="+mn-lt"/>
              </a:rPr>
              <a:t> and in the level of strictness with which businesses are expected to comply.</a:t>
            </a:r>
            <a:endParaRPr lang="en-US" dirty="0"/>
          </a:p>
          <a:p>
            <a:r>
              <a:rPr lang="en-US" dirty="0">
                <a:ea typeface="+mn-lt"/>
                <a:cs typeface="+mn-lt"/>
              </a:rPr>
              <a:t>As a business owner, one </a:t>
            </a:r>
            <a:r>
              <a:rPr lang="en-US" b="1" dirty="0">
                <a:ea typeface="+mn-lt"/>
                <a:cs typeface="+mn-lt"/>
              </a:rPr>
              <a:t>should employ best practices for both data security and privacy</a:t>
            </a:r>
            <a:r>
              <a:rPr lang="en-US" dirty="0">
                <a:ea typeface="+mn-lt"/>
                <a:cs typeface="+mn-lt"/>
              </a:rPr>
              <a:t> to ensure compliance with major legislation like the GDPR and the CCPA (CPRA).</a:t>
            </a:r>
            <a:endParaRPr lang="en-US" dirty="0"/>
          </a:p>
          <a:p>
            <a:endParaRPr lang="en-US" dirty="0"/>
          </a:p>
        </p:txBody>
      </p:sp>
      <p:sp>
        <p:nvSpPr>
          <p:cNvPr id="7" name="Date Placeholder 6">
            <a:extLst>
              <a:ext uri="{FF2B5EF4-FFF2-40B4-BE49-F238E27FC236}">
                <a16:creationId xmlns:a16="http://schemas.microsoft.com/office/drawing/2014/main" id="{DC43879D-24C5-9C43-9AA3-8E2C1C19B7AE}"/>
              </a:ext>
            </a:extLst>
          </p:cNvPr>
          <p:cNvSpPr>
            <a:spLocks noGrp="1"/>
          </p:cNvSpPr>
          <p:nvPr>
            <p:ph type="dt" sz="half" idx="10"/>
          </p:nvPr>
        </p:nvSpPr>
        <p:spPr/>
        <p:txBody>
          <a:bodyPr/>
          <a:lstStyle/>
          <a:p>
            <a:fld id="{1E938075-1400-4AAA-935C-2BB3BA0B26B5}" type="datetime1">
              <a:t>9/13/2026</a:t>
            </a:fld>
            <a:endParaRPr lang="en-US" dirty="0"/>
          </a:p>
        </p:txBody>
      </p:sp>
      <p:sp>
        <p:nvSpPr>
          <p:cNvPr id="8" name="Footer Placeholder 7">
            <a:extLst>
              <a:ext uri="{FF2B5EF4-FFF2-40B4-BE49-F238E27FC236}">
                <a16:creationId xmlns:a16="http://schemas.microsoft.com/office/drawing/2014/main" id="{548F4B80-A4D9-DECF-56E8-03AC0646344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F9089F9F-6DC0-6FA3-759A-2315B9811003}"/>
              </a:ext>
            </a:extLst>
          </p:cNvPr>
          <p:cNvSpPr>
            <a:spLocks noGrp="1"/>
          </p:cNvSpPr>
          <p:nvPr>
            <p:ph type="sldNum" sz="quarter" idx="12"/>
          </p:nvPr>
        </p:nvSpPr>
        <p:spPr/>
        <p:txBody>
          <a:bodyPr/>
          <a:lstStyle/>
          <a:p>
            <a:fld id="{5E4DE196-8A13-4FF7-A07E-102851959EAB}" type="slidenum">
              <a:rPr lang="en-US" dirty="0"/>
              <a:t>16</a:t>
            </a:fld>
            <a:endParaRPr lang="en-US" dirty="0"/>
          </a:p>
        </p:txBody>
      </p:sp>
    </p:spTree>
    <p:extLst>
      <p:ext uri="{BB962C8B-B14F-4D97-AF65-F5344CB8AC3E}">
        <p14:creationId xmlns:p14="http://schemas.microsoft.com/office/powerpoint/2010/main" val="338902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1F58A65-756A-26B4-A358-DDC1B4972D7D}"/>
              </a:ext>
            </a:extLst>
          </p:cNvPr>
          <p:cNvSpPr>
            <a:spLocks noGrp="1"/>
          </p:cNvSpPr>
          <p:nvPr>
            <p:ph type="dt" sz="half" idx="10"/>
          </p:nvPr>
        </p:nvSpPr>
        <p:spPr/>
        <p:txBody>
          <a:bodyPr/>
          <a:lstStyle/>
          <a:p>
            <a:fld id="{57D54ED7-FF08-4A62-A96E-AB7AF524B76B}" type="datetime1">
              <a:t>9/13/2026</a:t>
            </a:fld>
            <a:endParaRPr lang="en-US" dirty="0"/>
          </a:p>
        </p:txBody>
      </p:sp>
      <p:sp>
        <p:nvSpPr>
          <p:cNvPr id="5" name="Footer Placeholder 4">
            <a:extLst>
              <a:ext uri="{FF2B5EF4-FFF2-40B4-BE49-F238E27FC236}">
                <a16:creationId xmlns:a16="http://schemas.microsoft.com/office/drawing/2014/main" id="{B95C8165-0A15-C049-5644-2CB1B3A069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74E64AD-EA92-E184-73B3-31417B2EA3A1}"/>
              </a:ext>
            </a:extLst>
          </p:cNvPr>
          <p:cNvSpPr>
            <a:spLocks noGrp="1"/>
          </p:cNvSpPr>
          <p:nvPr>
            <p:ph type="sldNum" sz="quarter" idx="12"/>
          </p:nvPr>
        </p:nvSpPr>
        <p:spPr/>
        <p:txBody>
          <a:bodyPr/>
          <a:lstStyle/>
          <a:p>
            <a:fld id="{5E4DE196-8A13-4FF7-A07E-102851959EAB}" type="slidenum">
              <a:rPr lang="en-US" dirty="0"/>
              <a:t>17</a:t>
            </a:fld>
            <a:endParaRPr lang="en-US" dirty="0"/>
          </a:p>
        </p:txBody>
      </p:sp>
      <p:sp>
        <p:nvSpPr>
          <p:cNvPr id="7" name="TextBox 6">
            <a:extLst>
              <a:ext uri="{FF2B5EF4-FFF2-40B4-BE49-F238E27FC236}">
                <a16:creationId xmlns:a16="http://schemas.microsoft.com/office/drawing/2014/main" id="{FCC521F2-4D03-418C-4111-4B2BDEB8FBE4}"/>
              </a:ext>
            </a:extLst>
          </p:cNvPr>
          <p:cNvSpPr txBox="1"/>
          <p:nvPr/>
        </p:nvSpPr>
        <p:spPr>
          <a:xfrm>
            <a:off x="2429509" y="2406436"/>
            <a:ext cx="732923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0" b="1" u="sng" dirty="0">
                <a:latin typeface="Walbaum Display"/>
              </a:rPr>
              <a:t>Thank You</a:t>
            </a:r>
            <a:endParaRPr lang="en-US" sz="8000">
              <a:latin typeface="Walbaum Display"/>
            </a:endParaRPr>
          </a:p>
        </p:txBody>
      </p:sp>
    </p:spTree>
    <p:extLst>
      <p:ext uri="{BB962C8B-B14F-4D97-AF65-F5344CB8AC3E}">
        <p14:creationId xmlns:p14="http://schemas.microsoft.com/office/powerpoint/2010/main" val="371816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ohoVogueVTI">
  <a:themeElements>
    <a:clrScheme name="BohoVogueVTI">
      <a:dk1>
        <a:sysClr val="windowText" lastClr="000000"/>
      </a:dk1>
      <a:lt1>
        <a:sysClr val="window" lastClr="FFFFFF"/>
      </a:lt1>
      <a:dk2>
        <a:srgbClr val="35403A"/>
      </a:dk2>
      <a:lt2>
        <a:srgbClr val="F1EFEB"/>
      </a:lt2>
      <a:accent1>
        <a:srgbClr val="9E8B50"/>
      </a:accent1>
      <a:accent2>
        <a:srgbClr val="D5966B"/>
      </a:accent2>
      <a:accent3>
        <a:srgbClr val="9BA6BB"/>
      </a:accent3>
      <a:accent4>
        <a:srgbClr val="869880"/>
      </a:accent4>
      <a:accent5>
        <a:srgbClr val="588267"/>
      </a:accent5>
      <a:accent6>
        <a:srgbClr val="B89C46"/>
      </a:accent6>
      <a:hlink>
        <a:srgbClr val="C77138"/>
      </a:hlink>
      <a:folHlink>
        <a:srgbClr val="589374"/>
      </a:folHlink>
    </a:clrScheme>
    <a:fontScheme name="BohoVogueVTI">
      <a:majorFont>
        <a:latin typeface="Walbaum Display"/>
        <a:ea typeface=""/>
        <a:cs typeface=""/>
      </a:majorFont>
      <a:minorFont>
        <a:latin typeface="Aptos Light"/>
        <a:ea typeface=""/>
        <a:cs typeface=""/>
      </a:minorFont>
    </a:fontScheme>
    <a:fmtScheme name="BohoVogu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ohoVogueVTI" id="{587E0025-A466-4551-A341-1A9F570FDF06}" vid="{F615CBBD-D1BB-4663-887F-92A47C7C6AB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BohoVogueVTI</vt:lpstr>
      <vt:lpstr>Data Privacy and Security</vt:lpstr>
      <vt:lpstr>What is Data Privacy?</vt:lpstr>
      <vt:lpstr>Why is data privacy important?</vt:lpstr>
      <vt:lpstr>Data privacy in the age of AI </vt:lpstr>
      <vt:lpstr>Benefits of data privacy </vt:lpstr>
      <vt:lpstr>Laws &amp; regulations that govern data privacy </vt:lpstr>
      <vt:lpstr>Common data privacy issues &amp; challenges</vt:lpstr>
      <vt:lpstr> Data privacy principles &amp; best practices </vt:lpstr>
      <vt:lpstr>What are some of the most important technologies for data privacy?</vt:lpstr>
      <vt:lpstr>What is Data Security?</vt:lpstr>
      <vt:lpstr>Benefits Of Data Security </vt:lpstr>
      <vt:lpstr>Biggest Data Security Risks </vt:lpstr>
      <vt:lpstr>Critical Data Security Solutions </vt:lpstr>
      <vt:lpstr>Data Security Best Practices</vt:lpstr>
      <vt:lpstr>What's the difference between data privacy vs. data security?</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450</cp:revision>
  <dcterms:created xsi:type="dcterms:W3CDTF">2026-09-06T05:50:02Z</dcterms:created>
  <dcterms:modified xsi:type="dcterms:W3CDTF">2026-09-13T09:20:33Z</dcterms:modified>
</cp:coreProperties>
</file>
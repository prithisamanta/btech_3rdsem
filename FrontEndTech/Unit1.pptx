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8"/>
  </p:notesMasterIdLst>
  <p:sldIdLst>
    <p:sldId id="308" r:id="rId2"/>
    <p:sldId id="309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41" r:id="rId33"/>
    <p:sldId id="342" r:id="rId34"/>
    <p:sldId id="343" r:id="rId35"/>
    <p:sldId id="344" r:id="rId36"/>
    <p:sldId id="345" r:id="rId37"/>
    <p:sldId id="346" r:id="rId38"/>
    <p:sldId id="347" r:id="rId39"/>
    <p:sldId id="348" r:id="rId40"/>
    <p:sldId id="349" r:id="rId41"/>
    <p:sldId id="350" r:id="rId42"/>
    <p:sldId id="351" r:id="rId43"/>
    <p:sldId id="352" r:id="rId44"/>
    <p:sldId id="353" r:id="rId45"/>
    <p:sldId id="354" r:id="rId46"/>
    <p:sldId id="355" r:id="rId47"/>
  </p:sldIdLst>
  <p:sldSz cx="12192000" cy="6858000"/>
  <p:notesSz cx="6858000" cy="9144000"/>
  <p:embeddedFontLst>
    <p:embeddedFont>
      <p:font typeface="Calibri" panose="020F0502020204030204" pitchFamily="34" charset="0"/>
      <p:regular r:id="rId49"/>
      <p:bold r:id="rId50"/>
      <p:italic r:id="rId51"/>
      <p:boldItalic r:id="rId52"/>
    </p:embeddedFont>
    <p:embeddedFont>
      <p:font typeface="Roboto Condensed Light" panose="02000000000000000000" pitchFamily="2" charset="0"/>
      <p:regular r:id="rId53"/>
      <p:italic r:id="rId54"/>
    </p:embeddedFont>
    <p:embeddedFont>
      <p:font typeface="Consolas" panose="020B0609020204030204" pitchFamily="49" charset="0"/>
      <p:regular r:id="rId55"/>
      <p:bold r:id="rId56"/>
      <p:italic r:id="rId57"/>
      <p:boldItalic r:id="rId58"/>
    </p:embeddedFont>
    <p:embeddedFont>
      <p:font typeface="Segoe UI Black" panose="020B0A02040204020203" pitchFamily="34" charset="0"/>
      <p:bold r:id="rId59"/>
      <p:boldItalic r:id="rId60"/>
    </p:embeddedFont>
    <p:embeddedFont>
      <p:font typeface="Roboto Condensed" panose="02000000000000000000" pitchFamily="2" charset="0"/>
      <p:regular r:id="rId61"/>
      <p:bold r:id="rId62"/>
      <p:italic r:id="rId63"/>
      <p:boldItalic r:id="rId64"/>
    </p:embeddedFont>
    <p:embeddedFont>
      <p:font typeface="Wingdings 3" panose="05040102010807070707" pitchFamily="18" charset="2"/>
      <p:regular r:id="rId65"/>
    </p:embeddedFont>
    <p:embeddedFont>
      <p:font typeface="Wingdings 2" panose="05020102010507070707" pitchFamily="18" charset="2"/>
      <p:regular r:id="rId6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5VJ6ma4zsrWheVU5Kd6NmA==" hashData="tGITJjc9xvMrYCF+v4ic2brg663P5spSY/oqFDJLkzk/34KyxMoBrCw543+74SJz7Uif16oMfF7c0m7bweCbMA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524F"/>
    <a:srgbClr val="301B92"/>
    <a:srgbClr val="673BB7"/>
    <a:srgbClr val="607D8B"/>
    <a:srgbClr val="B71B1C"/>
    <a:srgbClr val="F54337"/>
    <a:srgbClr val="D81A60"/>
    <a:srgbClr val="890E4F"/>
    <a:srgbClr val="EA1E63"/>
    <a:srgbClr val="C6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56" autoAdjust="0"/>
    <p:restoredTop sz="94660"/>
  </p:normalViewPr>
  <p:slideViewPr>
    <p:cSldViewPr snapToGrid="0">
      <p:cViewPr varScale="1">
        <p:scale>
          <a:sx n="83" d="100"/>
          <a:sy n="83" d="100"/>
        </p:scale>
        <p:origin x="79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5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font" Target="fonts/font18.fntdata"/><Relationship Id="rId5" Type="http://schemas.openxmlformats.org/officeDocument/2006/relationships/slide" Target="slides/slide4.xml"/><Relationship Id="rId61" Type="http://schemas.openxmlformats.org/officeDocument/2006/relationships/font" Target="fonts/font1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font" Target="fonts/font16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2.fntdata"/><Relationship Id="rId55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3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2501CS303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(FWT)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JS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2501CS303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(FWT)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JS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2501CS303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(FWT)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JS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2501CS303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(FWT)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&amp; 02 – JS &amp; ES6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2501CS303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(FWT)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&amp; 02 – JS &amp; ES6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2501CS303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(FWT)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&amp; 02 – JS &amp; ES6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arjun.bala@darshan.ac.in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9624822202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Arjun</a:t>
            </a:r>
            <a:r>
              <a:rPr lang="en-IN" dirty="0"/>
              <a:t> V. </a:t>
            </a:r>
            <a:r>
              <a:rPr lang="en-IN" dirty="0" err="1"/>
              <a:t>Bala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Front End Web Technology </a:t>
            </a:r>
          </a:p>
          <a:p>
            <a:r>
              <a:rPr lang="en-IN" dirty="0"/>
              <a:t>(FWT) (</a:t>
            </a:r>
            <a:r>
              <a:rPr lang="en-US" dirty="0"/>
              <a:t>2501CS303</a:t>
            </a:r>
            <a:r>
              <a:rPr lang="en-IN" dirty="0"/>
              <a:t>)</a:t>
            </a:r>
            <a:endParaRPr lang="en-US" dirty="0"/>
          </a:p>
        </p:txBody>
      </p:sp>
      <p:pic>
        <p:nvPicPr>
          <p:cNvPr id="16" name="Picture Placeholder 15" descr="09CEAVB_19042019_063947AM.jpg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/>
          <a:srcRect/>
          <a:stretch>
            <a:fillRect/>
          </a:stretch>
        </p:blipFill>
        <p:spPr/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Unit-01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JS</a:t>
            </a:r>
          </a:p>
        </p:txBody>
      </p:sp>
    </p:spTree>
    <p:extLst>
      <p:ext uri="{BB962C8B-B14F-4D97-AF65-F5344CB8AC3E}">
        <p14:creationId xmlns:p14="http://schemas.microsoft.com/office/powerpoint/2010/main" val="2436520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7277712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Introduction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000" dirty="0"/>
              <a:t>Task Performed by Client side Scripts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000" dirty="0"/>
              <a:t>Pros &amp; Cons of Client side Scripts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000" dirty="0"/>
              <a:t>Client side Scripts V/S Server side Scripts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Variables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Functions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Conditions &amp; Loops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Pop up boxes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External JavaScript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JavaScript Objects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DOM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DHTML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ES6</a:t>
            </a:r>
          </a:p>
          <a:p>
            <a:pPr indent="446088">
              <a:buFont typeface="Wingdings" pitchFamily="2" charset="2"/>
              <a:buChar char="ü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89120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Web page, </a:t>
            </a:r>
            <a:r>
              <a:rPr lang="en-US" b="1" dirty="0">
                <a:solidFill>
                  <a:srgbClr val="C00000"/>
                </a:solidFill>
              </a:rPr>
              <a:t>HTML</a:t>
            </a:r>
            <a:r>
              <a:rPr lang="en-US" dirty="0"/>
              <a:t> supplies document </a:t>
            </a:r>
            <a:r>
              <a:rPr lang="en-US" b="1" dirty="0">
                <a:solidFill>
                  <a:srgbClr val="C00000"/>
                </a:solidFill>
              </a:rPr>
              <a:t>content and structure </a:t>
            </a:r>
            <a:r>
              <a:rPr lang="en-US" dirty="0"/>
              <a:t>while </a:t>
            </a:r>
            <a:r>
              <a:rPr lang="en-US" b="1" dirty="0">
                <a:solidFill>
                  <a:srgbClr val="C00000"/>
                </a:solidFill>
              </a:rPr>
              <a:t>CSS</a:t>
            </a:r>
            <a:r>
              <a:rPr lang="en-US" dirty="0"/>
              <a:t> provides </a:t>
            </a:r>
            <a:r>
              <a:rPr lang="en-US" b="1" dirty="0">
                <a:solidFill>
                  <a:srgbClr val="C00000"/>
                </a:solidFill>
              </a:rPr>
              <a:t>presentation styling</a:t>
            </a:r>
          </a:p>
          <a:p>
            <a:r>
              <a:rPr lang="en-US" dirty="0"/>
              <a:t>In addition, client-side scripts can </a:t>
            </a:r>
            <a:r>
              <a:rPr lang="en-US" b="1" dirty="0">
                <a:solidFill>
                  <a:srgbClr val="C00000"/>
                </a:solidFill>
              </a:rPr>
              <a:t>control browser actions</a:t>
            </a:r>
            <a:r>
              <a:rPr lang="en-US" b="1" dirty="0"/>
              <a:t> </a:t>
            </a:r>
            <a:r>
              <a:rPr lang="en-US" dirty="0"/>
              <a:t>associated with a Web page. </a:t>
            </a:r>
          </a:p>
          <a:p>
            <a:r>
              <a:rPr lang="en-US" dirty="0"/>
              <a:t>Client-side scripts are almost written in the </a:t>
            </a:r>
            <a:r>
              <a:rPr lang="en-US" b="1" dirty="0" err="1">
                <a:solidFill>
                  <a:srgbClr val="C00000"/>
                </a:solidFill>
              </a:rPr>
              <a:t>Javascript</a:t>
            </a:r>
            <a:r>
              <a:rPr lang="en-US" dirty="0"/>
              <a:t> language to control browser’s actions.</a:t>
            </a:r>
          </a:p>
          <a:p>
            <a:r>
              <a:rPr lang="en-US" dirty="0"/>
              <a:t>Client-side scripting can make Web pages more </a:t>
            </a:r>
            <a:r>
              <a:rPr lang="en-US" b="1" dirty="0">
                <a:solidFill>
                  <a:srgbClr val="C00000"/>
                </a:solidFill>
              </a:rPr>
              <a:t>dynamic</a:t>
            </a:r>
            <a:r>
              <a:rPr lang="en-US" dirty="0"/>
              <a:t> and more </a:t>
            </a:r>
            <a:r>
              <a:rPr lang="en-US" b="1" dirty="0">
                <a:solidFill>
                  <a:srgbClr val="C00000"/>
                </a:solidFill>
              </a:rPr>
              <a:t>responsive.</a:t>
            </a:r>
          </a:p>
          <a:p>
            <a:r>
              <a:rPr lang="en-US" dirty="0"/>
              <a:t>Tasks performed by client-side scripts: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Checking </a:t>
            </a:r>
            <a:r>
              <a:rPr lang="en-US" b="1" dirty="0">
                <a:solidFill>
                  <a:srgbClr val="C00000"/>
                </a:solidFill>
              </a:rPr>
              <a:t>correctness</a:t>
            </a:r>
            <a:r>
              <a:rPr lang="en-US" dirty="0"/>
              <a:t> of user input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rgbClr val="C00000"/>
                </a:solidFill>
              </a:rPr>
              <a:t>Monitoring</a:t>
            </a:r>
            <a:r>
              <a:rPr lang="en-US" dirty="0"/>
              <a:t> user events and </a:t>
            </a:r>
            <a:r>
              <a:rPr lang="en-US" b="1" dirty="0">
                <a:solidFill>
                  <a:srgbClr val="C00000"/>
                </a:solidFill>
              </a:rPr>
              <a:t>specifying reactions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rgbClr val="C00000"/>
                </a:solidFill>
              </a:rPr>
              <a:t>Replacing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updating</a:t>
            </a:r>
            <a:r>
              <a:rPr lang="en-US" dirty="0"/>
              <a:t> parts of a page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Changing the </a:t>
            </a:r>
            <a:r>
              <a:rPr lang="en-US" b="1" dirty="0">
                <a:solidFill>
                  <a:srgbClr val="C00000"/>
                </a:solidFill>
              </a:rPr>
              <a:t>style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position</a:t>
            </a:r>
            <a:r>
              <a:rPr lang="en-US" dirty="0"/>
              <a:t> of displayed elements </a:t>
            </a:r>
            <a:r>
              <a:rPr lang="en-US" b="1" dirty="0">
                <a:solidFill>
                  <a:srgbClr val="C00000"/>
                </a:solidFill>
              </a:rPr>
              <a:t>dynamically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rgbClr val="C00000"/>
                </a:solidFill>
              </a:rPr>
              <a:t>Modifying</a:t>
            </a:r>
            <a:r>
              <a:rPr lang="en-US" dirty="0"/>
              <a:t> a page in </a:t>
            </a:r>
            <a:r>
              <a:rPr lang="en-US" b="1" dirty="0">
                <a:solidFill>
                  <a:srgbClr val="C00000"/>
                </a:solidFill>
              </a:rPr>
              <a:t>response</a:t>
            </a:r>
            <a:r>
              <a:rPr lang="en-US" dirty="0"/>
              <a:t> to </a:t>
            </a:r>
            <a:r>
              <a:rPr lang="en-US" b="1" dirty="0">
                <a:solidFill>
                  <a:srgbClr val="C00000"/>
                </a:solidFill>
              </a:rPr>
              <a:t>events</a:t>
            </a:r>
            <a:endParaRPr lang="en-US" dirty="0">
              <a:solidFill>
                <a:srgbClr val="C00000"/>
              </a:solidFill>
            </a:endParaRPr>
          </a:p>
          <a:p>
            <a:pPr lvl="1">
              <a:buClr>
                <a:schemeClr val="tx1"/>
              </a:buClr>
            </a:pPr>
            <a:r>
              <a:rPr lang="en-US" dirty="0"/>
              <a:t>Getting browser </a:t>
            </a:r>
            <a:r>
              <a:rPr lang="en-US" b="1" dirty="0">
                <a:solidFill>
                  <a:srgbClr val="C00000"/>
                </a:solidFill>
              </a:rPr>
              <a:t>information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Making the Web page </a:t>
            </a:r>
            <a:r>
              <a:rPr lang="en-US" b="1" dirty="0">
                <a:solidFill>
                  <a:srgbClr val="C00000"/>
                </a:solidFill>
              </a:rPr>
              <a:t>different</a:t>
            </a:r>
            <a:r>
              <a:rPr lang="en-US" dirty="0"/>
              <a:t> depending on the browser and browser features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rgbClr val="C00000"/>
                </a:solidFill>
              </a:rPr>
              <a:t>Generating HTML </a:t>
            </a:r>
            <a:r>
              <a:rPr lang="en-US" dirty="0"/>
              <a:t>code for parts of the page</a:t>
            </a:r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5128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&amp; Cons of Client Side Scripting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b="1" dirty="0"/>
              <a:t>Pros</a:t>
            </a:r>
            <a:r>
              <a:rPr lang="en-US" dirty="0"/>
              <a:t>	</a:t>
            </a:r>
          </a:p>
          <a:p>
            <a:pPr lvl="1">
              <a:buClr>
                <a:schemeClr val="tx1"/>
              </a:buClr>
            </a:pPr>
            <a:r>
              <a:rPr lang="en-US" sz="2400" dirty="0"/>
              <a:t>Allow for </a:t>
            </a:r>
            <a:r>
              <a:rPr lang="en-US" sz="2400" b="1" dirty="0">
                <a:solidFill>
                  <a:srgbClr val="C00000"/>
                </a:solidFill>
              </a:rPr>
              <a:t>more interactivity </a:t>
            </a:r>
            <a:r>
              <a:rPr lang="en-US" sz="2400" dirty="0"/>
              <a:t>by immediately responding to users’ actions.</a:t>
            </a:r>
          </a:p>
          <a:p>
            <a:pPr lvl="1">
              <a:buClr>
                <a:schemeClr val="tx1"/>
              </a:buClr>
            </a:pPr>
            <a:r>
              <a:rPr lang="en-US" sz="2400" b="1" dirty="0">
                <a:solidFill>
                  <a:srgbClr val="C00000"/>
                </a:solidFill>
              </a:rPr>
              <a:t>Execute quickly </a:t>
            </a:r>
            <a:r>
              <a:rPr lang="en-US" sz="2400" dirty="0"/>
              <a:t>because they do not require a trip to the server.</a:t>
            </a:r>
          </a:p>
          <a:p>
            <a:pPr lvl="1">
              <a:buClr>
                <a:schemeClr val="tx1"/>
              </a:buClr>
            </a:pPr>
            <a:r>
              <a:rPr lang="en-US" sz="2400" dirty="0"/>
              <a:t>The web </a:t>
            </a:r>
            <a:r>
              <a:rPr lang="en-US" sz="2400" b="1" dirty="0">
                <a:solidFill>
                  <a:srgbClr val="C00000"/>
                </a:solidFill>
              </a:rPr>
              <a:t>browser</a:t>
            </a:r>
            <a:r>
              <a:rPr lang="en-US" sz="2400" dirty="0"/>
              <a:t> uses its own </a:t>
            </a:r>
            <a:r>
              <a:rPr lang="en-US" sz="2400" b="1" dirty="0">
                <a:solidFill>
                  <a:srgbClr val="C00000"/>
                </a:solidFill>
              </a:rPr>
              <a:t>resources</a:t>
            </a:r>
            <a:r>
              <a:rPr lang="en-US" sz="2400" dirty="0"/>
              <a:t>, and </a:t>
            </a:r>
            <a:r>
              <a:rPr lang="en-US" sz="2400" b="1" dirty="0">
                <a:solidFill>
                  <a:srgbClr val="C00000"/>
                </a:solidFill>
              </a:rPr>
              <a:t>eases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C00000"/>
                </a:solidFill>
              </a:rPr>
              <a:t>burden</a:t>
            </a:r>
            <a:r>
              <a:rPr lang="en-US" sz="2400" dirty="0"/>
              <a:t> on the </a:t>
            </a:r>
            <a:r>
              <a:rPr lang="en-US" sz="2400" b="1" dirty="0">
                <a:solidFill>
                  <a:srgbClr val="C00000"/>
                </a:solidFill>
              </a:rPr>
              <a:t>server</a:t>
            </a:r>
            <a:r>
              <a:rPr lang="en-US" sz="2400" dirty="0"/>
              <a:t>.</a:t>
            </a:r>
          </a:p>
          <a:p>
            <a:pPr lvl="1">
              <a:buClr>
                <a:schemeClr val="tx1"/>
              </a:buClr>
            </a:pPr>
            <a:r>
              <a:rPr lang="en-US" sz="2400" dirty="0"/>
              <a:t> It </a:t>
            </a:r>
            <a:r>
              <a:rPr lang="en-US" sz="2400" b="1" dirty="0">
                <a:solidFill>
                  <a:srgbClr val="C00000"/>
                </a:solidFill>
              </a:rPr>
              <a:t>saves </a:t>
            </a:r>
            <a:r>
              <a:rPr lang="en-US" sz="2400" dirty="0"/>
              <a:t>network </a:t>
            </a:r>
            <a:r>
              <a:rPr lang="en-US" sz="2400" b="1" dirty="0">
                <a:solidFill>
                  <a:srgbClr val="C00000"/>
                </a:solidFill>
              </a:rPr>
              <a:t>bandwidth</a:t>
            </a:r>
            <a:r>
              <a:rPr lang="en-US" sz="2400" dirty="0"/>
              <a:t>.</a:t>
            </a:r>
          </a:p>
          <a:p>
            <a:pPr>
              <a:buClr>
                <a:schemeClr val="tx1"/>
              </a:buClr>
            </a:pPr>
            <a:r>
              <a:rPr lang="en-US" sz="2600" b="1" dirty="0"/>
              <a:t>Cons</a:t>
            </a:r>
            <a:endParaRPr lang="en-US" b="1" dirty="0"/>
          </a:p>
          <a:p>
            <a:pPr lvl="1">
              <a:buClr>
                <a:schemeClr val="tx1"/>
              </a:buClr>
            </a:pPr>
            <a:r>
              <a:rPr lang="en-US" sz="2400" b="1" dirty="0">
                <a:solidFill>
                  <a:srgbClr val="C00000"/>
                </a:solidFill>
              </a:rPr>
              <a:t>Code</a:t>
            </a:r>
            <a:r>
              <a:rPr lang="en-US" sz="2400" dirty="0"/>
              <a:t> is loaded in the browser so it will be </a:t>
            </a:r>
            <a:r>
              <a:rPr lang="en-US" sz="2400" b="1" dirty="0">
                <a:solidFill>
                  <a:srgbClr val="C00000"/>
                </a:solidFill>
              </a:rPr>
              <a:t>visible</a:t>
            </a:r>
            <a:r>
              <a:rPr lang="en-US" sz="2400" dirty="0"/>
              <a:t> to the client.</a:t>
            </a:r>
          </a:p>
          <a:p>
            <a:pPr lvl="1">
              <a:buClr>
                <a:schemeClr val="tx1"/>
              </a:buClr>
            </a:pPr>
            <a:r>
              <a:rPr lang="en-US" sz="2400" dirty="0"/>
              <a:t>Code is </a:t>
            </a:r>
            <a:r>
              <a:rPr lang="en-US" sz="2400" b="1" dirty="0">
                <a:solidFill>
                  <a:srgbClr val="C00000"/>
                </a:solidFill>
              </a:rPr>
              <a:t>modifiable</a:t>
            </a:r>
            <a:r>
              <a:rPr lang="en-US" sz="2400" dirty="0"/>
              <a:t>.</a:t>
            </a:r>
          </a:p>
          <a:p>
            <a:pPr lvl="1">
              <a:buClr>
                <a:schemeClr val="tx1"/>
              </a:buClr>
            </a:pPr>
            <a:r>
              <a:rPr lang="en-US" sz="2400" b="1" dirty="0">
                <a:solidFill>
                  <a:srgbClr val="C00000"/>
                </a:solidFill>
              </a:rPr>
              <a:t>Local files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databases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cannot</a:t>
            </a:r>
            <a:r>
              <a:rPr lang="en-US" sz="2400" dirty="0"/>
              <a:t> be </a:t>
            </a:r>
            <a:r>
              <a:rPr lang="en-US" sz="2400" b="1" dirty="0">
                <a:solidFill>
                  <a:srgbClr val="C00000"/>
                </a:solidFill>
              </a:rPr>
              <a:t>accessed</a:t>
            </a:r>
            <a:r>
              <a:rPr lang="en-US" sz="2400" dirty="0"/>
              <a:t>.</a:t>
            </a:r>
          </a:p>
          <a:p>
            <a:pPr lvl="1">
              <a:buClr>
                <a:schemeClr val="tx1"/>
              </a:buClr>
            </a:pPr>
            <a:r>
              <a:rPr lang="en-US" sz="2400" dirty="0"/>
              <a:t>User is </a:t>
            </a:r>
            <a:r>
              <a:rPr lang="en-US" sz="2400" b="1" dirty="0">
                <a:solidFill>
                  <a:srgbClr val="C00000"/>
                </a:solidFill>
              </a:rPr>
              <a:t>able</a:t>
            </a:r>
            <a:r>
              <a:rPr lang="en-US" sz="2400" dirty="0"/>
              <a:t> to </a:t>
            </a:r>
            <a:r>
              <a:rPr lang="en-US" sz="2400" b="1" dirty="0">
                <a:solidFill>
                  <a:srgbClr val="C00000"/>
                </a:solidFill>
              </a:rPr>
              <a:t>disable</a:t>
            </a:r>
            <a:r>
              <a:rPr lang="en-US" sz="2400" dirty="0"/>
              <a:t> client side scripting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49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V/S Server Side Scripting</a:t>
            </a: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178722" y="795251"/>
          <a:ext cx="11542222" cy="44551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771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1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Server</a:t>
                      </a:r>
                      <a:r>
                        <a:rPr lang="en-US" sz="2000" baseline="0" dirty="0"/>
                        <a:t> Side Scripting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Client Side Scripting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kern="1200" dirty="0"/>
                        <a:t>Server side scripting is used to create dynamic pages based on a number of conditions when the users browser makes a request to the server.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kern="1200" dirty="0"/>
                        <a:t>Client side scripting is used when the users browser already has all the code and the page is altered on the basis of the users input.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kern="1200" dirty="0"/>
                        <a:t>The Web Server executes the server side scripting that produces the page to be sent to the browser.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kern="1200" dirty="0"/>
                        <a:t>The Web Browser executes the client side scripting that resides at the user’s computer.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kern="1200" dirty="0"/>
                        <a:t>Server side scripting is used to connect to the databases and files that reside on the web server.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kern="1200" dirty="0"/>
                        <a:t>Client side scripting cannot be used to connect to the databases and</a:t>
                      </a:r>
                      <a:r>
                        <a:rPr lang="en-US" sz="2000" kern="1200" baseline="0" dirty="0"/>
                        <a:t> files</a:t>
                      </a:r>
                      <a:r>
                        <a:rPr lang="en-US" sz="2000" kern="1200" dirty="0"/>
                        <a:t> on the web server.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800" kern="1200" dirty="0"/>
                        <a:t>Server</a:t>
                      </a:r>
                      <a:r>
                        <a:rPr lang="en-US" sz="1800" kern="1200" baseline="0" dirty="0"/>
                        <a:t> resources can be accessed by the server side scripting.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200" dirty="0"/>
                        <a:t>Browser</a:t>
                      </a:r>
                      <a:r>
                        <a:rPr lang="en-US" sz="1800" kern="1200" baseline="0" dirty="0"/>
                        <a:t> resources can be accessed by the client side scripting.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800" kern="1200" dirty="0"/>
                        <a:t>Server side scripting can’t be blocked by the user.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200" dirty="0"/>
                        <a:t>Client side scripting is possible to be blocked by the user.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273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800" kern="1200" dirty="0"/>
                        <a:t>Examples of Server side scripting languages : PHP, JSP,  ASP, </a:t>
                      </a:r>
                      <a:r>
                        <a:rPr lang="en-US" sz="1800" kern="1200" dirty="0" err="1"/>
                        <a:t>ASP.Net</a:t>
                      </a:r>
                      <a:r>
                        <a:rPr lang="en-US" sz="1800" kern="1200" dirty="0"/>
                        <a:t>, Ruby, Perl and many more.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200" dirty="0"/>
                        <a:t>Examples of Client side scripting languages : </a:t>
                      </a:r>
                      <a:r>
                        <a:rPr lang="en-US" sz="1800" kern="1200" dirty="0" err="1"/>
                        <a:t>Javascript</a:t>
                      </a:r>
                      <a:r>
                        <a:rPr lang="en-US" sz="1800" kern="1200" dirty="0"/>
                        <a:t>, VB script, etc.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21791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78722" y="1177599"/>
            <a:ext cx="11542222" cy="10086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78722" y="2186247"/>
            <a:ext cx="11542222" cy="7148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78722" y="2901143"/>
            <a:ext cx="11542222" cy="6816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78722" y="3616039"/>
            <a:ext cx="11542222" cy="6234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78722" y="4239491"/>
            <a:ext cx="11542222" cy="3491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78722" y="4588625"/>
            <a:ext cx="11542222" cy="6617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5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&lt;script&gt;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&lt;script&gt; tag is used to define a client-side script (JavaScript).</a:t>
            </a:r>
          </a:p>
          <a:p>
            <a:r>
              <a:rPr lang="en-US" dirty="0"/>
              <a:t>The &lt;script&gt; element either contains </a:t>
            </a:r>
            <a:r>
              <a:rPr lang="en-US" b="1" dirty="0">
                <a:solidFill>
                  <a:srgbClr val="C00000"/>
                </a:solidFill>
              </a:rPr>
              <a:t>scripting statements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b="1" dirty="0">
                <a:solidFill>
                  <a:srgbClr val="C00000"/>
                </a:solidFill>
              </a:rPr>
              <a:t>or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it points to an </a:t>
            </a:r>
            <a:r>
              <a:rPr lang="en-US" b="1" dirty="0">
                <a:solidFill>
                  <a:srgbClr val="C00000"/>
                </a:solidFill>
              </a:rPr>
              <a:t>external script </a:t>
            </a:r>
            <a:r>
              <a:rPr lang="en-US" dirty="0"/>
              <a:t>file through the </a:t>
            </a:r>
            <a:r>
              <a:rPr lang="en-US" b="1" dirty="0" err="1"/>
              <a:t>src</a:t>
            </a:r>
            <a:r>
              <a:rPr lang="en-US" dirty="0"/>
              <a:t> attribute.</a:t>
            </a:r>
          </a:p>
          <a:p>
            <a:r>
              <a:rPr lang="en-US" dirty="0"/>
              <a:t>Example :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17290" y="2621559"/>
            <a:ext cx="3810000" cy="3139321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</a:t>
            </a:r>
            <a:endParaRPr lang="en-US" dirty="0"/>
          </a:p>
          <a:p>
            <a:r>
              <a:rPr lang="en-US" dirty="0"/>
              <a:t>  &lt;html&gt;</a:t>
            </a:r>
          </a:p>
          <a:p>
            <a:r>
              <a:rPr lang="en-US" dirty="0"/>
              <a:t>    &lt;head&gt;</a:t>
            </a:r>
          </a:p>
          <a:p>
            <a:r>
              <a:rPr lang="en-US" dirty="0"/>
              <a:t>      &lt;title&gt;HTML script Tag&lt;/title&gt;</a:t>
            </a:r>
          </a:p>
          <a:p>
            <a:r>
              <a:rPr lang="en-US" dirty="0"/>
              <a:t>    &lt;/head&gt;</a:t>
            </a:r>
          </a:p>
          <a:p>
            <a:r>
              <a:rPr lang="en-US" dirty="0"/>
              <a:t>    &lt;body&gt;</a:t>
            </a:r>
          </a:p>
          <a:p>
            <a:r>
              <a:rPr lang="en-US" dirty="0"/>
              <a:t>      &lt;script type="text/</a:t>
            </a:r>
            <a:r>
              <a:rPr lang="en-US" dirty="0" err="1"/>
              <a:t>javascript</a:t>
            </a:r>
            <a:r>
              <a:rPr lang="en-US" dirty="0"/>
              <a:t>"&gt;</a:t>
            </a:r>
          </a:p>
          <a:p>
            <a:r>
              <a:rPr lang="en-US" dirty="0"/>
              <a:t>        </a:t>
            </a:r>
            <a:r>
              <a:rPr lang="en-US" b="1" dirty="0">
                <a:solidFill>
                  <a:srgbClr val="C00000"/>
                </a:solidFill>
              </a:rPr>
              <a:t>// Java Script Code Here</a:t>
            </a:r>
          </a:p>
          <a:p>
            <a:r>
              <a:rPr lang="en-US" dirty="0"/>
              <a:t>      &lt;/script&gt;</a:t>
            </a:r>
          </a:p>
          <a:p>
            <a:r>
              <a:rPr lang="en-US" dirty="0"/>
              <a:t>    &lt;/body&gt;</a:t>
            </a:r>
          </a:p>
          <a:p>
            <a:r>
              <a:rPr lang="en-US" dirty="0"/>
              <a:t>  &lt;/html&gt;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6345" y="2621559"/>
            <a:ext cx="3810000" cy="2862322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</a:t>
            </a:r>
            <a:endParaRPr lang="en-US" dirty="0"/>
          </a:p>
          <a:p>
            <a:r>
              <a:rPr lang="en-US" dirty="0"/>
              <a:t>  &lt;html&gt;</a:t>
            </a:r>
          </a:p>
          <a:p>
            <a:r>
              <a:rPr lang="en-US" dirty="0"/>
              <a:t>    &lt;head&gt;</a:t>
            </a:r>
          </a:p>
          <a:p>
            <a:r>
              <a:rPr lang="en-US" dirty="0"/>
              <a:t>      &lt;title&gt;HTML script Tag&lt;/title&gt;</a:t>
            </a:r>
          </a:p>
          <a:p>
            <a:r>
              <a:rPr lang="en-US" dirty="0"/>
              <a:t>    &lt;/head&gt;</a:t>
            </a:r>
          </a:p>
          <a:p>
            <a:r>
              <a:rPr lang="en-US" dirty="0"/>
              <a:t>    &lt;body&gt;</a:t>
            </a:r>
          </a:p>
          <a:p>
            <a:r>
              <a:rPr lang="en-US" dirty="0"/>
              <a:t>      &lt;script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src</a:t>
            </a:r>
            <a:r>
              <a:rPr lang="en-US" b="1" dirty="0">
                <a:solidFill>
                  <a:srgbClr val="C00000"/>
                </a:solidFill>
              </a:rPr>
              <a:t>=“</a:t>
            </a:r>
            <a:r>
              <a:rPr lang="en-US" b="1" dirty="0" err="1">
                <a:solidFill>
                  <a:srgbClr val="C00000"/>
                </a:solidFill>
              </a:rPr>
              <a:t>PathToJS</a:t>
            </a:r>
            <a:r>
              <a:rPr lang="en-US" b="1" dirty="0">
                <a:solidFill>
                  <a:srgbClr val="C00000"/>
                </a:solidFill>
              </a:rPr>
              <a:t>”</a:t>
            </a:r>
            <a:r>
              <a:rPr lang="en-US" dirty="0">
                <a:solidFill>
                  <a:srgbClr val="C00000"/>
                </a:solidFill>
              </a:rPr>
              <a:t>&gt;</a:t>
            </a:r>
          </a:p>
          <a:p>
            <a:r>
              <a:rPr lang="en-US" dirty="0"/>
              <a:t>      &lt;/script&gt;</a:t>
            </a:r>
          </a:p>
          <a:p>
            <a:r>
              <a:rPr lang="en-US" dirty="0"/>
              <a:t>    &lt;/body&gt;</a:t>
            </a:r>
          </a:p>
          <a:p>
            <a:r>
              <a:rPr lang="en-US" dirty="0"/>
              <a:t>  &lt;/html&gt; </a:t>
            </a:r>
          </a:p>
        </p:txBody>
      </p:sp>
    </p:spTree>
    <p:extLst>
      <p:ext uri="{BB962C8B-B14F-4D97-AF65-F5344CB8AC3E}">
        <p14:creationId xmlns:p14="http://schemas.microsoft.com/office/powerpoint/2010/main" val="172855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/>
              <a:t>A variable can contain several types of value: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rgbClr val="C00000"/>
                </a:solidFill>
              </a:rPr>
              <a:t>Number</a:t>
            </a:r>
            <a:r>
              <a:rPr lang="en-US" dirty="0"/>
              <a:t> : a numeric value e.g. 156, 100, 1.2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rgbClr val="C00000"/>
                </a:solidFill>
              </a:rPr>
              <a:t>String</a:t>
            </a:r>
            <a:r>
              <a:rPr lang="en-US" dirty="0"/>
              <a:t> : character wrapped in quotes e.g. “</a:t>
            </a:r>
            <a:r>
              <a:rPr lang="en-US" dirty="0" err="1"/>
              <a:t>rajkot</a:t>
            </a:r>
            <a:r>
              <a:rPr lang="en-US" dirty="0"/>
              <a:t>”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rgbClr val="C00000"/>
                </a:solidFill>
              </a:rPr>
              <a:t>Boolean</a:t>
            </a:r>
            <a:r>
              <a:rPr lang="en-US" dirty="0"/>
              <a:t> : a value of true or false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rgbClr val="C00000"/>
                </a:solidFill>
              </a:rPr>
              <a:t>Null</a:t>
            </a:r>
            <a:r>
              <a:rPr lang="en-US" dirty="0"/>
              <a:t> : an empty variable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rgbClr val="C00000"/>
                </a:solidFill>
              </a:rPr>
              <a:t>Function</a:t>
            </a:r>
            <a:r>
              <a:rPr lang="en-US" dirty="0"/>
              <a:t> : a function name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rgbClr val="C00000"/>
                </a:solidFill>
              </a:rPr>
              <a:t>Object</a:t>
            </a:r>
            <a:r>
              <a:rPr lang="en-US" dirty="0"/>
              <a:t> : an object</a:t>
            </a:r>
          </a:p>
          <a:p>
            <a:pPr>
              <a:buClr>
                <a:schemeClr val="tx1"/>
              </a:buClr>
            </a:pPr>
            <a:r>
              <a:rPr lang="en-US" dirty="0"/>
              <a:t>Attributes of </a:t>
            </a:r>
            <a:r>
              <a:rPr lang="en-US" dirty="0" err="1"/>
              <a:t>Javascript</a:t>
            </a:r>
            <a:r>
              <a:rPr lang="en-US" dirty="0"/>
              <a:t> variables :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It is a </a:t>
            </a:r>
            <a:r>
              <a:rPr lang="en-US" b="1" dirty="0">
                <a:solidFill>
                  <a:srgbClr val="C00000"/>
                </a:solidFill>
              </a:rPr>
              <a:t>case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sensitive</a:t>
            </a:r>
            <a:r>
              <a:rPr lang="en-US" dirty="0"/>
              <a:t>. </a:t>
            </a:r>
            <a:r>
              <a:rPr lang="en-US" i="1" dirty="0"/>
              <a:t>(</a:t>
            </a:r>
            <a:r>
              <a:rPr lang="en-US" i="1" dirty="0" err="1"/>
              <a:t>mynum</a:t>
            </a:r>
            <a:r>
              <a:rPr lang="en-US" i="1" dirty="0"/>
              <a:t> and </a:t>
            </a:r>
            <a:r>
              <a:rPr lang="en-US" i="1" dirty="0" err="1"/>
              <a:t>MyNum</a:t>
            </a:r>
            <a:r>
              <a:rPr lang="en-US" i="1" dirty="0"/>
              <a:t> are different variables)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It </a:t>
            </a:r>
            <a:r>
              <a:rPr lang="en-US" b="1" dirty="0">
                <a:solidFill>
                  <a:srgbClr val="C00000"/>
                </a:solidFill>
              </a:rPr>
              <a:t>cannot</a:t>
            </a:r>
            <a:r>
              <a:rPr lang="en-US" dirty="0"/>
              <a:t> contain </a:t>
            </a:r>
            <a:r>
              <a:rPr lang="en-US" b="1" dirty="0">
                <a:solidFill>
                  <a:srgbClr val="C00000"/>
                </a:solidFill>
              </a:rPr>
              <a:t>punctuation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b="1" dirty="0">
                <a:solidFill>
                  <a:srgbClr val="C00000"/>
                </a:solidFill>
              </a:rPr>
              <a:t>space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or </a:t>
            </a:r>
            <a:r>
              <a:rPr lang="en-US" b="1" dirty="0">
                <a:solidFill>
                  <a:srgbClr val="C00000"/>
                </a:solidFill>
              </a:rPr>
              <a:t>start</a:t>
            </a:r>
            <a:r>
              <a:rPr lang="en-US" b="1" dirty="0"/>
              <a:t> </a:t>
            </a:r>
            <a:r>
              <a:rPr lang="en-US" dirty="0"/>
              <a:t>with a </a:t>
            </a:r>
            <a:r>
              <a:rPr lang="en-US" b="1" dirty="0">
                <a:solidFill>
                  <a:srgbClr val="C00000"/>
                </a:solidFill>
              </a:rPr>
              <a:t>digit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It </a:t>
            </a:r>
            <a:r>
              <a:rPr lang="en-US" b="1" dirty="0">
                <a:solidFill>
                  <a:srgbClr val="C00000"/>
                </a:solidFill>
              </a:rPr>
              <a:t>cannot</a:t>
            </a:r>
            <a:r>
              <a:rPr lang="en-US" b="1" dirty="0"/>
              <a:t> </a:t>
            </a:r>
            <a:r>
              <a:rPr lang="en-US" dirty="0"/>
              <a:t>be a JavaScript </a:t>
            </a:r>
            <a:r>
              <a:rPr lang="en-US" b="1" dirty="0">
                <a:solidFill>
                  <a:srgbClr val="C00000"/>
                </a:solidFill>
              </a:rPr>
              <a:t>reserved</a:t>
            </a:r>
            <a:r>
              <a:rPr lang="en-US" b="1" dirty="0"/>
              <a:t> </a:t>
            </a:r>
            <a:r>
              <a:rPr lang="en-US" dirty="0"/>
              <a:t>word</a:t>
            </a:r>
          </a:p>
          <a:p>
            <a:pPr>
              <a:buClr>
                <a:schemeClr val="tx1"/>
              </a:buClr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918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and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13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string</a:t>
            </a:r>
            <a:r>
              <a:rPr lang="en-US" dirty="0"/>
              <a:t> can be defined as a </a:t>
            </a:r>
            <a:r>
              <a:rPr lang="en-US" b="1" dirty="0">
                <a:solidFill>
                  <a:srgbClr val="C00000"/>
                </a:solidFill>
              </a:rPr>
              <a:t>sequence of letters, digits, punctuation and so on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string</a:t>
            </a:r>
            <a:r>
              <a:rPr lang="en-US" b="1" dirty="0"/>
              <a:t> </a:t>
            </a:r>
            <a:r>
              <a:rPr lang="en-US" dirty="0"/>
              <a:t>in a JavaScript is </a:t>
            </a:r>
            <a:r>
              <a:rPr lang="en-US" b="1" dirty="0">
                <a:solidFill>
                  <a:srgbClr val="C00000"/>
                </a:solidFill>
              </a:rPr>
              <a:t>wrapped</a:t>
            </a:r>
            <a:r>
              <a:rPr lang="en-US" dirty="0"/>
              <a:t> with </a:t>
            </a:r>
            <a:r>
              <a:rPr lang="en-US" b="1" dirty="0">
                <a:solidFill>
                  <a:srgbClr val="C00000"/>
                </a:solidFill>
              </a:rPr>
              <a:t>single or double quotes</a:t>
            </a:r>
          </a:p>
          <a:p>
            <a:r>
              <a:rPr lang="en-US" dirty="0"/>
              <a:t>Strings can be </a:t>
            </a:r>
            <a:r>
              <a:rPr lang="en-US" b="1" dirty="0">
                <a:solidFill>
                  <a:srgbClr val="C00000"/>
                </a:solidFill>
              </a:rPr>
              <a:t>joined</a:t>
            </a:r>
            <a:r>
              <a:rPr lang="en-US" b="1" dirty="0"/>
              <a:t> </a:t>
            </a:r>
            <a:r>
              <a:rPr lang="en-US" dirty="0"/>
              <a:t>together with the </a:t>
            </a:r>
            <a:r>
              <a:rPr lang="en-US" b="1" dirty="0">
                <a:solidFill>
                  <a:srgbClr val="C00000"/>
                </a:solidFill>
              </a:rPr>
              <a:t>+ operator</a:t>
            </a:r>
            <a:r>
              <a:rPr lang="en-US" dirty="0"/>
              <a:t>, which is called </a:t>
            </a:r>
            <a:r>
              <a:rPr lang="en-US" b="1" dirty="0">
                <a:solidFill>
                  <a:srgbClr val="C00000"/>
                </a:solidFill>
              </a:rPr>
              <a:t>concatenation</a:t>
            </a:r>
            <a:r>
              <a:rPr lang="en-US" dirty="0"/>
              <a:t>.</a:t>
            </a:r>
          </a:p>
          <a:p>
            <a:pPr lvl="1">
              <a:buNone/>
            </a:pPr>
            <a:r>
              <a:rPr lang="en-US" dirty="0"/>
              <a:t>For Example, </a:t>
            </a:r>
          </a:p>
          <a:p>
            <a:pPr lvl="1">
              <a:buNone/>
            </a:pPr>
            <a:r>
              <a:rPr lang="en-US" dirty="0"/>
              <a:t>	</a:t>
            </a:r>
            <a:r>
              <a:rPr lang="en-US" dirty="0" err="1"/>
              <a:t>mystring</a:t>
            </a:r>
            <a:r>
              <a:rPr lang="en-US" dirty="0"/>
              <a:t> = “my college name is ” + “</a:t>
            </a:r>
            <a:r>
              <a:rPr lang="en-US" dirty="0" err="1"/>
              <a:t>Darshan</a:t>
            </a:r>
            <a:r>
              <a:rPr lang="en-US" dirty="0"/>
              <a:t>”;</a:t>
            </a:r>
          </a:p>
          <a:p>
            <a:r>
              <a:rPr lang="en-US" dirty="0"/>
              <a:t>As string is an object type it also has some useful features.</a:t>
            </a:r>
          </a:p>
          <a:p>
            <a:pPr lvl="1">
              <a:buNone/>
            </a:pPr>
            <a:r>
              <a:rPr lang="en-US" dirty="0"/>
              <a:t>For Example,</a:t>
            </a:r>
          </a:p>
          <a:p>
            <a:pPr lvl="1">
              <a:buNone/>
            </a:pPr>
            <a:r>
              <a:rPr lang="en-US" dirty="0"/>
              <a:t>	</a:t>
            </a:r>
            <a:r>
              <a:rPr lang="en-US" dirty="0" err="1"/>
              <a:t>lenStr</a:t>
            </a:r>
            <a:r>
              <a:rPr lang="en-US" dirty="0"/>
              <a:t> = </a:t>
            </a:r>
            <a:r>
              <a:rPr lang="en-US" dirty="0" err="1"/>
              <a:t>mystring</a:t>
            </a:r>
            <a:r>
              <a:rPr lang="en-US" b="1" dirty="0" err="1">
                <a:solidFill>
                  <a:srgbClr val="C00000"/>
                </a:solidFill>
              </a:rPr>
              <a:t>.length</a:t>
            </a:r>
            <a:r>
              <a:rPr lang="en-US" dirty="0"/>
              <a:t>;</a:t>
            </a:r>
          </a:p>
          <a:p>
            <a:pPr lvl="1">
              <a:buNone/>
            </a:pPr>
            <a:r>
              <a:rPr lang="en-US" dirty="0"/>
              <a:t>Which returns the </a:t>
            </a:r>
            <a:r>
              <a:rPr lang="en-US" b="1" dirty="0">
                <a:solidFill>
                  <a:srgbClr val="C00000"/>
                </a:solidFill>
              </a:rPr>
              <a:t>length</a:t>
            </a:r>
            <a:r>
              <a:rPr lang="en-US" b="1" dirty="0"/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rgbClr val="C00000"/>
                </a:solidFill>
              </a:rPr>
              <a:t>string</a:t>
            </a:r>
            <a:r>
              <a:rPr lang="en-US" b="1" dirty="0"/>
              <a:t> </a:t>
            </a:r>
            <a:r>
              <a:rPr lang="en-US" dirty="0"/>
              <a:t>in </a:t>
            </a:r>
            <a:r>
              <a:rPr lang="en-US" b="1" dirty="0">
                <a:solidFill>
                  <a:srgbClr val="C00000"/>
                </a:solidFill>
              </a:rPr>
              <a:t>integer</a:t>
            </a:r>
          </a:p>
        </p:txBody>
      </p:sp>
    </p:spTree>
    <p:extLst>
      <p:ext uri="{BB962C8B-B14F-4D97-AF65-F5344CB8AC3E}">
        <p14:creationId xmlns:p14="http://schemas.microsoft.com/office/powerpoint/2010/main" val="1628863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also number of methods available for string.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 </a:t>
            </a:r>
            <a:r>
              <a:rPr lang="en-US" b="1" dirty="0">
                <a:solidFill>
                  <a:srgbClr val="C00000"/>
                </a:solidFill>
              </a:rPr>
              <a:t>escape sequence </a:t>
            </a:r>
            <a:r>
              <a:rPr lang="en-US" dirty="0"/>
              <a:t>is a sequence of characters that </a:t>
            </a:r>
            <a:r>
              <a:rPr lang="en-US" b="1" dirty="0">
                <a:solidFill>
                  <a:srgbClr val="C00000"/>
                </a:solidFill>
              </a:rPr>
              <a:t>does not represent itself </a:t>
            </a:r>
            <a:r>
              <a:rPr lang="en-US" dirty="0"/>
              <a:t>when used inside a character or string, </a:t>
            </a:r>
            <a:r>
              <a:rPr lang="en-US" b="1" dirty="0">
                <a:solidFill>
                  <a:srgbClr val="C00000"/>
                </a:solidFill>
              </a:rPr>
              <a:t>but</a:t>
            </a:r>
            <a:r>
              <a:rPr lang="en-US" b="1" dirty="0"/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translated into another character </a:t>
            </a:r>
            <a:r>
              <a:rPr lang="en-US" dirty="0"/>
              <a:t>or a </a:t>
            </a:r>
            <a:r>
              <a:rPr lang="en-US" b="1" dirty="0">
                <a:solidFill>
                  <a:srgbClr val="C00000"/>
                </a:solidFill>
              </a:rPr>
              <a:t>sequence of characters </a:t>
            </a:r>
            <a:r>
              <a:rPr lang="en-US" dirty="0"/>
              <a:t>that may be difficult or impossible to represent directly.</a:t>
            </a:r>
          </a:p>
          <a:p>
            <a:r>
              <a:rPr lang="en-US" dirty="0"/>
              <a:t>Some Useful Escape sequences are </a:t>
            </a:r>
            <a:r>
              <a:rPr lang="en-US" dirty="0">
                <a:latin typeface="Consolas" panose="020B0609020204030204" pitchFamily="49" charset="0"/>
              </a:rPr>
              <a:t>\n, \r, \t, \”, \’, \\ etc..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5710" y="1349230"/>
          <a:ext cx="7924801" cy="2966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charAt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character</a:t>
                      </a:r>
                      <a:r>
                        <a:rPr lang="en-US" baseline="0" dirty="0"/>
                        <a:t> at a specific index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indexOf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 the first index of a 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lastIndexOf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 the last index of a 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substring / </a:t>
                      </a:r>
                      <a:r>
                        <a:rPr lang="en-US" dirty="0" err="1"/>
                        <a:t>substr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a section of a string.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/>
                        <a:t>replace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Replaces a specified value with another value in a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toLowerCase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Convert a string to lower case.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toUpperCase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Convert a string to upper case.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4007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>
                <a:solidFill>
                  <a:srgbClr val="C00000"/>
                </a:solidFill>
              </a:rPr>
              <a:t>array</a:t>
            </a:r>
            <a:r>
              <a:rPr lang="en-US" dirty="0"/>
              <a:t> is a </a:t>
            </a:r>
            <a:r>
              <a:rPr lang="en-US" b="1" dirty="0">
                <a:solidFill>
                  <a:srgbClr val="C00000"/>
                </a:solidFill>
              </a:rPr>
              <a:t>collection of data</a:t>
            </a:r>
            <a:r>
              <a:rPr lang="en-US" dirty="0"/>
              <a:t>, each item in array has an index to access it.</a:t>
            </a:r>
          </a:p>
          <a:p>
            <a:r>
              <a:rPr lang="en-US" dirty="0"/>
              <a:t>Ways to use array in JavaScript</a:t>
            </a:r>
          </a:p>
          <a:p>
            <a:pPr lvl="1"/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myArray</a:t>
            </a:r>
            <a:r>
              <a:rPr lang="en-US" dirty="0"/>
              <a:t> = new Array();</a:t>
            </a:r>
          </a:p>
          <a:p>
            <a:pPr lvl="2">
              <a:buNone/>
            </a:pPr>
            <a:r>
              <a:rPr lang="en-US" dirty="0" err="1"/>
              <a:t>myArray</a:t>
            </a:r>
            <a:r>
              <a:rPr lang="en-US" dirty="0"/>
              <a:t>[0] = “</a:t>
            </a:r>
            <a:r>
              <a:rPr lang="en-US" dirty="0" err="1"/>
              <a:t>darshan</a:t>
            </a:r>
            <a:r>
              <a:rPr lang="en-US" dirty="0"/>
              <a:t>”;</a:t>
            </a:r>
          </a:p>
          <a:p>
            <a:pPr lvl="2">
              <a:buNone/>
            </a:pPr>
            <a:r>
              <a:rPr lang="en-US" dirty="0" err="1"/>
              <a:t>myArray</a:t>
            </a:r>
            <a:r>
              <a:rPr lang="en-US" dirty="0"/>
              <a:t>[1] = 222;</a:t>
            </a:r>
          </a:p>
          <a:p>
            <a:pPr lvl="2">
              <a:buNone/>
            </a:pPr>
            <a:r>
              <a:rPr lang="en-US" dirty="0" err="1"/>
              <a:t>myArray</a:t>
            </a:r>
            <a:r>
              <a:rPr lang="en-US" dirty="0"/>
              <a:t>[2] = false;</a:t>
            </a:r>
          </a:p>
          <a:p>
            <a:pPr lvl="1"/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myArray</a:t>
            </a:r>
            <a:r>
              <a:rPr lang="en-US" dirty="0"/>
              <a:t> = new Array(“</a:t>
            </a:r>
            <a:r>
              <a:rPr lang="en-US" dirty="0" err="1"/>
              <a:t>darshan</a:t>
            </a:r>
            <a:r>
              <a:rPr lang="en-US" dirty="0"/>
              <a:t>” , 123 , true);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98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JavaScript function is a </a:t>
            </a:r>
            <a:r>
              <a:rPr lang="en-US" b="1" dirty="0">
                <a:solidFill>
                  <a:srgbClr val="C00000"/>
                </a:solidFill>
              </a:rPr>
              <a:t>block of code </a:t>
            </a:r>
            <a:r>
              <a:rPr lang="en-US" dirty="0"/>
              <a:t>designed to perform a particular task.</a:t>
            </a:r>
          </a:p>
          <a:p>
            <a:r>
              <a:rPr lang="en-US" dirty="0"/>
              <a:t>A JavaScript function is </a:t>
            </a:r>
            <a:r>
              <a:rPr lang="en-US" b="1" dirty="0">
                <a:solidFill>
                  <a:srgbClr val="C00000"/>
                </a:solidFill>
              </a:rPr>
              <a:t>executed</a:t>
            </a:r>
            <a:r>
              <a:rPr lang="en-US" b="1" dirty="0"/>
              <a:t> </a:t>
            </a:r>
            <a:r>
              <a:rPr lang="en-US" dirty="0"/>
              <a:t>when "</a:t>
            </a:r>
            <a:r>
              <a:rPr lang="en-US" b="1" dirty="0">
                <a:solidFill>
                  <a:srgbClr val="C00000"/>
                </a:solidFill>
              </a:rPr>
              <a:t>something</a:t>
            </a:r>
            <a:r>
              <a:rPr lang="en-US" dirty="0"/>
              <a:t>" </a:t>
            </a:r>
            <a:r>
              <a:rPr lang="en-US" b="1" dirty="0">
                <a:solidFill>
                  <a:srgbClr val="C00000"/>
                </a:solidFill>
              </a:rPr>
              <a:t>invokes</a:t>
            </a:r>
            <a:r>
              <a:rPr lang="en-US" b="1" dirty="0"/>
              <a:t> </a:t>
            </a:r>
            <a:r>
              <a:rPr lang="en-US" dirty="0"/>
              <a:t>it.</a:t>
            </a:r>
          </a:p>
          <a:p>
            <a:r>
              <a:rPr lang="en-US" dirty="0"/>
              <a:t>A JavaScript function is defined with the </a:t>
            </a:r>
            <a:r>
              <a:rPr lang="en-US" b="1" dirty="0">
                <a:solidFill>
                  <a:srgbClr val="C00000"/>
                </a:solidFill>
              </a:rPr>
              <a:t>function</a:t>
            </a:r>
            <a:r>
              <a:rPr lang="en-US" b="1" dirty="0"/>
              <a:t> </a:t>
            </a:r>
            <a:r>
              <a:rPr lang="en-US" dirty="0"/>
              <a:t>keyword, </a:t>
            </a:r>
            <a:r>
              <a:rPr lang="en-US" b="1" dirty="0">
                <a:solidFill>
                  <a:srgbClr val="C00000"/>
                </a:solidFill>
              </a:rPr>
              <a:t>followed by a name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b="1" dirty="0">
                <a:solidFill>
                  <a:srgbClr val="C00000"/>
                </a:solidFill>
              </a:rPr>
              <a:t>followed by parentheses ()</a:t>
            </a:r>
            <a:r>
              <a:rPr lang="en-US" dirty="0">
                <a:solidFill>
                  <a:srgbClr val="C00000"/>
                </a:solidFill>
              </a:rPr>
              <a:t>.</a:t>
            </a:r>
          </a:p>
          <a:p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parentheses</a:t>
            </a:r>
            <a:r>
              <a:rPr lang="en-US" b="1" dirty="0"/>
              <a:t> </a:t>
            </a:r>
            <a:r>
              <a:rPr lang="en-US" dirty="0"/>
              <a:t>may </a:t>
            </a:r>
            <a:r>
              <a:rPr lang="en-US" b="1" dirty="0">
                <a:solidFill>
                  <a:srgbClr val="C00000"/>
                </a:solidFill>
              </a:rPr>
              <a:t>include parameter </a:t>
            </a:r>
            <a:r>
              <a:rPr lang="en-US" dirty="0"/>
              <a:t>names </a:t>
            </a:r>
            <a:r>
              <a:rPr lang="en-US" b="1" dirty="0">
                <a:solidFill>
                  <a:srgbClr val="C00000"/>
                </a:solidFill>
              </a:rPr>
              <a:t>separated</a:t>
            </a:r>
            <a:r>
              <a:rPr lang="en-US" b="1" dirty="0"/>
              <a:t> </a:t>
            </a:r>
            <a:r>
              <a:rPr lang="en-US" dirty="0"/>
              <a:t>by </a:t>
            </a:r>
            <a:r>
              <a:rPr lang="en-US" b="1" dirty="0">
                <a:solidFill>
                  <a:srgbClr val="C00000"/>
                </a:solidFill>
              </a:rPr>
              <a:t>commas</a:t>
            </a:r>
            <a:r>
              <a:rPr lang="en-US" dirty="0"/>
              <a:t>: (parameter1, parameter2, ...)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code to be executed</a:t>
            </a:r>
            <a:r>
              <a:rPr lang="en-US" dirty="0"/>
              <a:t>, by the function, is placed inside </a:t>
            </a:r>
            <a:r>
              <a:rPr lang="en-US" b="1" dirty="0">
                <a:solidFill>
                  <a:srgbClr val="C00000"/>
                </a:solidFill>
              </a:rPr>
              <a:t>curly brackets</a:t>
            </a:r>
            <a:r>
              <a:rPr lang="en-US" dirty="0"/>
              <a:t>.</a:t>
            </a:r>
          </a:p>
          <a:p>
            <a:r>
              <a:rPr lang="en-US" dirty="0"/>
              <a:t>Example :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53674" y="4309140"/>
            <a:ext cx="3810000" cy="1200329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</a:t>
            </a:r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myFunction</a:t>
            </a:r>
            <a:r>
              <a:rPr lang="en-US" dirty="0"/>
              <a:t>(p1, p2) {</a:t>
            </a:r>
          </a:p>
          <a:p>
            <a:r>
              <a:rPr lang="en-US" dirty="0"/>
              <a:t>	return p1 * p2;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3358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JavaScript </a:t>
            </a:r>
            <a:r>
              <a:rPr lang="en-US" b="1" dirty="0">
                <a:solidFill>
                  <a:srgbClr val="C00000"/>
                </a:solidFill>
              </a:rPr>
              <a:t>reaches a return </a:t>
            </a:r>
            <a:r>
              <a:rPr lang="en-US" dirty="0"/>
              <a:t>statement, the function will </a:t>
            </a:r>
            <a:r>
              <a:rPr lang="en-US" b="1" dirty="0">
                <a:solidFill>
                  <a:srgbClr val="C00000"/>
                </a:solidFill>
              </a:rPr>
              <a:t>stop executing</a:t>
            </a:r>
            <a:r>
              <a:rPr lang="en-US" dirty="0"/>
              <a:t>.</a:t>
            </a:r>
          </a:p>
          <a:p>
            <a:r>
              <a:rPr lang="en-US" dirty="0"/>
              <a:t>If the function was invoked from a statement, JavaScript will "return" to execute the code after the invoking statement.</a:t>
            </a:r>
          </a:p>
          <a:p>
            <a:r>
              <a:rPr lang="en-US" dirty="0"/>
              <a:t>The code inside the function will execute when "something" invokes (calls) the function:</a:t>
            </a:r>
          </a:p>
          <a:p>
            <a:pPr lvl="1"/>
            <a:r>
              <a:rPr lang="en-US" dirty="0"/>
              <a:t>When an </a:t>
            </a:r>
            <a:r>
              <a:rPr lang="en-US" b="1" dirty="0">
                <a:solidFill>
                  <a:srgbClr val="C00000"/>
                </a:solidFill>
              </a:rPr>
              <a:t>event occurs </a:t>
            </a:r>
            <a:r>
              <a:rPr lang="en-US" dirty="0"/>
              <a:t>(when a user clicks a button)</a:t>
            </a:r>
          </a:p>
          <a:p>
            <a:pPr lvl="1"/>
            <a:r>
              <a:rPr lang="en-US" dirty="0"/>
              <a:t>When it is invoked (</a:t>
            </a:r>
            <a:r>
              <a:rPr lang="en-US" b="1" dirty="0">
                <a:solidFill>
                  <a:srgbClr val="C00000"/>
                </a:solidFill>
              </a:rPr>
              <a:t>called</a:t>
            </a:r>
            <a:r>
              <a:rPr lang="en-US" dirty="0"/>
              <a:t>) from JavaScript code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Automatically</a:t>
            </a:r>
            <a:r>
              <a:rPr lang="en-US" dirty="0"/>
              <a:t> (self invoked)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54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 up Boxes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Popup boxes can be used to raise an alert, or to get confirmation on any input or to have a kind of input from the users.</a:t>
            </a:r>
          </a:p>
          <a:p>
            <a:r>
              <a:rPr lang="en-US" dirty="0"/>
              <a:t>JavaScript supports </a:t>
            </a:r>
            <a:r>
              <a:rPr lang="en-US" b="1" dirty="0">
                <a:solidFill>
                  <a:srgbClr val="C00000"/>
                </a:solidFill>
              </a:rPr>
              <a:t>three</a:t>
            </a:r>
            <a:r>
              <a:rPr lang="en-US" dirty="0"/>
              <a:t> types of popup boxes. </a:t>
            </a:r>
          </a:p>
          <a:p>
            <a:pPr lvl="1"/>
            <a:r>
              <a:rPr lang="en-US" sz="2400" dirty="0"/>
              <a:t>Alert box</a:t>
            </a:r>
          </a:p>
          <a:p>
            <a:pPr lvl="1"/>
            <a:r>
              <a:rPr lang="en-US" sz="2400" dirty="0"/>
              <a:t>Confirm box</a:t>
            </a:r>
            <a:endParaRPr lang="en-US" sz="2200" dirty="0"/>
          </a:p>
          <a:p>
            <a:pPr lvl="1"/>
            <a:r>
              <a:rPr lang="en-US" sz="2400" dirty="0"/>
              <a:t>Prompt box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098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 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>
                <a:solidFill>
                  <a:srgbClr val="C00000"/>
                </a:solidFill>
              </a:rPr>
              <a:t>alert box </a:t>
            </a:r>
            <a:r>
              <a:rPr lang="en-US" dirty="0"/>
              <a:t>is used if you want to </a:t>
            </a:r>
            <a:r>
              <a:rPr lang="en-US" b="1" dirty="0">
                <a:solidFill>
                  <a:srgbClr val="C00000"/>
                </a:solidFill>
              </a:rPr>
              <a:t>make sure </a:t>
            </a:r>
            <a:r>
              <a:rPr lang="en-US" dirty="0"/>
              <a:t>information </a:t>
            </a:r>
            <a:r>
              <a:rPr lang="en-US" b="1" dirty="0">
                <a:solidFill>
                  <a:srgbClr val="C00000"/>
                </a:solidFill>
              </a:rPr>
              <a:t>comes through</a:t>
            </a:r>
            <a:r>
              <a:rPr lang="en-US" dirty="0"/>
              <a:t> to the </a:t>
            </a:r>
            <a:r>
              <a:rPr lang="en-US" b="1" dirty="0">
                <a:solidFill>
                  <a:srgbClr val="C00000"/>
                </a:solidFill>
              </a:rPr>
              <a:t>user</a:t>
            </a:r>
            <a:r>
              <a:rPr lang="en-US" dirty="0"/>
              <a:t>.</a:t>
            </a:r>
          </a:p>
          <a:p>
            <a:r>
              <a:rPr lang="en-US" dirty="0"/>
              <a:t>When an alert box pops up, the user will </a:t>
            </a:r>
            <a:r>
              <a:rPr lang="en-US" b="1" dirty="0">
                <a:solidFill>
                  <a:srgbClr val="C00000"/>
                </a:solidFill>
              </a:rPr>
              <a:t>have to click "OK" </a:t>
            </a:r>
            <a:r>
              <a:rPr lang="en-US" dirty="0"/>
              <a:t>to proceed.</a:t>
            </a:r>
          </a:p>
          <a:p>
            <a:r>
              <a:rPr lang="en-US" dirty="0"/>
              <a:t>It can be used to display the result of validation.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0807" y="2448217"/>
            <a:ext cx="3810000" cy="3139321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</a:t>
            </a:r>
            <a:endParaRPr lang="en-US" dirty="0"/>
          </a:p>
          <a:p>
            <a:r>
              <a:rPr lang="en-US" dirty="0"/>
              <a:t>&lt;html&gt;</a:t>
            </a:r>
            <a:endParaRPr lang="en-US" b="1" dirty="0"/>
          </a:p>
          <a:p>
            <a:r>
              <a:rPr lang="en-US" dirty="0"/>
              <a:t>     &lt;head&gt;</a:t>
            </a:r>
          </a:p>
          <a:p>
            <a:r>
              <a:rPr lang="en-US" dirty="0"/>
              <a:t>    	&lt;title&gt;Alert Box&lt;/title&gt;</a:t>
            </a:r>
          </a:p>
          <a:p>
            <a:r>
              <a:rPr lang="en-US" dirty="0"/>
              <a:t>    &lt;/head&gt;</a:t>
            </a:r>
          </a:p>
          <a:p>
            <a:r>
              <a:rPr lang="en-US" dirty="0"/>
              <a:t>    &lt;body&gt;</a:t>
            </a:r>
          </a:p>
          <a:p>
            <a:r>
              <a:rPr lang="en-US" dirty="0"/>
              <a:t>    	&lt;script&gt;</a:t>
            </a:r>
          </a:p>
          <a:p>
            <a:r>
              <a:rPr lang="en-US" dirty="0"/>
              <a:t>                            alert("Hello World");</a:t>
            </a:r>
          </a:p>
          <a:p>
            <a:r>
              <a:rPr lang="en-US" dirty="0"/>
              <a:t>	&lt;/script&gt;</a:t>
            </a:r>
          </a:p>
          <a:p>
            <a:r>
              <a:rPr lang="en-US" dirty="0"/>
              <a:t>    &lt;/body&gt;</a:t>
            </a:r>
          </a:p>
          <a:p>
            <a:r>
              <a:rPr lang="en-US" dirty="0"/>
              <a:t>&lt;/html&gt;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5607" y="2691938"/>
            <a:ext cx="4362450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885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Confirm 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confirm box </a:t>
            </a:r>
            <a:r>
              <a:rPr lang="en-US" dirty="0"/>
              <a:t>is used if you want the user to </a:t>
            </a:r>
            <a:r>
              <a:rPr lang="en-US" b="1" dirty="0">
                <a:solidFill>
                  <a:srgbClr val="C00000"/>
                </a:solidFill>
              </a:rPr>
              <a:t>accept something</a:t>
            </a:r>
            <a:r>
              <a:rPr lang="en-US" dirty="0"/>
              <a:t>.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rgbClr val="C00000"/>
                </a:solidFill>
              </a:rPr>
              <a:t>When </a:t>
            </a:r>
            <a:r>
              <a:rPr lang="en-US" dirty="0"/>
              <a:t>a confirm box </a:t>
            </a:r>
            <a:r>
              <a:rPr lang="en-US" b="1" dirty="0">
                <a:solidFill>
                  <a:srgbClr val="C00000"/>
                </a:solidFill>
              </a:rPr>
              <a:t>pops up</a:t>
            </a:r>
            <a:r>
              <a:rPr lang="en-US" dirty="0"/>
              <a:t>, the user will have to </a:t>
            </a:r>
            <a:r>
              <a:rPr lang="en-US" b="1" dirty="0">
                <a:solidFill>
                  <a:srgbClr val="C00000"/>
                </a:solidFill>
              </a:rPr>
              <a:t>click</a:t>
            </a:r>
            <a:r>
              <a:rPr lang="en-US" dirty="0"/>
              <a:t> either "</a:t>
            </a:r>
            <a:r>
              <a:rPr lang="en-US" b="1" dirty="0">
                <a:solidFill>
                  <a:srgbClr val="C00000"/>
                </a:solidFill>
              </a:rPr>
              <a:t>OK</a:t>
            </a:r>
            <a:r>
              <a:rPr lang="en-US" dirty="0"/>
              <a:t>" or "</a:t>
            </a:r>
            <a:r>
              <a:rPr lang="en-US" b="1" dirty="0">
                <a:solidFill>
                  <a:srgbClr val="C00000"/>
                </a:solidFill>
              </a:rPr>
              <a:t>Cancel</a:t>
            </a:r>
            <a:r>
              <a:rPr lang="en-US" dirty="0"/>
              <a:t>" to proceed, If the user clicks "</a:t>
            </a:r>
            <a:r>
              <a:rPr lang="en-US" b="1" dirty="0">
                <a:solidFill>
                  <a:srgbClr val="C00000"/>
                </a:solidFill>
              </a:rPr>
              <a:t>OK</a:t>
            </a:r>
            <a:r>
              <a:rPr lang="en-US" dirty="0"/>
              <a:t>", the box </a:t>
            </a:r>
            <a:r>
              <a:rPr lang="en-US" b="1" dirty="0">
                <a:solidFill>
                  <a:srgbClr val="C00000"/>
                </a:solidFill>
              </a:rPr>
              <a:t>returns true</a:t>
            </a:r>
            <a:r>
              <a:rPr lang="en-US" dirty="0"/>
              <a:t>. If the user clicks "</a:t>
            </a:r>
            <a:r>
              <a:rPr lang="en-US" b="1" dirty="0">
                <a:solidFill>
                  <a:srgbClr val="C00000"/>
                </a:solidFill>
              </a:rPr>
              <a:t>Cancel</a:t>
            </a:r>
            <a:r>
              <a:rPr lang="en-US" dirty="0"/>
              <a:t>", the box </a:t>
            </a:r>
            <a:r>
              <a:rPr lang="en-US" b="1" dirty="0">
                <a:solidFill>
                  <a:srgbClr val="C00000"/>
                </a:solidFill>
              </a:rPr>
              <a:t>returns false</a:t>
            </a:r>
            <a:r>
              <a:rPr lang="en-US" dirty="0"/>
              <a:t>.</a:t>
            </a:r>
          </a:p>
          <a:p>
            <a:pPr>
              <a:buClr>
                <a:schemeClr val="tx1"/>
              </a:buClr>
            </a:pPr>
            <a:r>
              <a:rPr lang="en-US" dirty="0"/>
              <a:t>Example :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20930" y="2622692"/>
            <a:ext cx="3810000" cy="2862322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</a:t>
            </a:r>
            <a:endParaRPr lang="en-US" dirty="0"/>
          </a:p>
          <a:p>
            <a:r>
              <a:rPr lang="en-US" dirty="0"/>
              <a:t>&lt;script&gt;</a:t>
            </a:r>
          </a:p>
          <a:p>
            <a:r>
              <a:rPr lang="en-US" dirty="0"/>
              <a:t>   </a:t>
            </a:r>
            <a:r>
              <a:rPr lang="en-US" dirty="0" err="1"/>
              <a:t>var</a:t>
            </a:r>
            <a:r>
              <a:rPr lang="en-US" dirty="0"/>
              <a:t> a = </a:t>
            </a:r>
            <a:r>
              <a:rPr lang="en-US" b="1" dirty="0"/>
              <a:t>confirm</a:t>
            </a:r>
            <a:r>
              <a:rPr lang="en-US" dirty="0"/>
              <a:t>(“Are you sure??");</a:t>
            </a:r>
          </a:p>
          <a:p>
            <a:r>
              <a:rPr lang="en-US" dirty="0"/>
              <a:t>   if(a==true) {</a:t>
            </a:r>
          </a:p>
          <a:p>
            <a:r>
              <a:rPr lang="en-US" dirty="0"/>
              <a:t>    	alert(“User Accepted”);</a:t>
            </a:r>
          </a:p>
          <a:p>
            <a:r>
              <a:rPr lang="en-US" dirty="0"/>
              <a:t>   }   </a:t>
            </a:r>
          </a:p>
          <a:p>
            <a:r>
              <a:rPr lang="en-US" dirty="0"/>
              <a:t>   else   {</a:t>
            </a:r>
          </a:p>
          <a:p>
            <a:r>
              <a:rPr lang="en-US" dirty="0"/>
              <a:t>   	alert(“User </a:t>
            </a:r>
            <a:r>
              <a:rPr lang="en-US" dirty="0" err="1"/>
              <a:t>Cancled</a:t>
            </a:r>
            <a:r>
              <a:rPr lang="en-US" dirty="0"/>
              <a:t>”);</a:t>
            </a:r>
          </a:p>
          <a:p>
            <a:r>
              <a:rPr lang="en-US" dirty="0"/>
              <a:t>   }</a:t>
            </a:r>
          </a:p>
          <a:p>
            <a:r>
              <a:rPr lang="en-US" dirty="0"/>
              <a:t>&lt;/script&gt;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1930" y="3046614"/>
            <a:ext cx="4371975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3704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prompt box </a:t>
            </a:r>
            <a:r>
              <a:rPr lang="en-US" dirty="0"/>
              <a:t>is used if you want the user to </a:t>
            </a:r>
            <a:r>
              <a:rPr lang="en-US" b="1" dirty="0">
                <a:solidFill>
                  <a:srgbClr val="C00000"/>
                </a:solidFill>
              </a:rPr>
              <a:t>input a value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C00000"/>
                </a:solidFill>
              </a:rPr>
              <a:t>When</a:t>
            </a:r>
            <a:r>
              <a:rPr lang="en-US" dirty="0"/>
              <a:t> a prompt box </a:t>
            </a:r>
            <a:r>
              <a:rPr lang="en-US" b="1" dirty="0">
                <a:solidFill>
                  <a:srgbClr val="C00000"/>
                </a:solidFill>
              </a:rPr>
              <a:t>pops up</a:t>
            </a:r>
            <a:r>
              <a:rPr lang="en-US" dirty="0"/>
              <a:t>, user have to click either "</a:t>
            </a:r>
            <a:r>
              <a:rPr lang="en-US" b="1" dirty="0">
                <a:solidFill>
                  <a:srgbClr val="C00000"/>
                </a:solidFill>
              </a:rPr>
              <a:t>OK</a:t>
            </a:r>
            <a:r>
              <a:rPr lang="en-US" dirty="0"/>
              <a:t>" or "</a:t>
            </a:r>
            <a:r>
              <a:rPr lang="en-US" b="1" dirty="0">
                <a:solidFill>
                  <a:srgbClr val="C00000"/>
                </a:solidFill>
              </a:rPr>
              <a:t>Cancel</a:t>
            </a:r>
            <a:r>
              <a:rPr lang="en-US" dirty="0"/>
              <a:t>" to proceed, If the user clicks "</a:t>
            </a:r>
            <a:r>
              <a:rPr lang="en-US" b="1" dirty="0">
                <a:solidFill>
                  <a:srgbClr val="C00000"/>
                </a:solidFill>
              </a:rPr>
              <a:t>OK</a:t>
            </a:r>
            <a:r>
              <a:rPr lang="en-US" dirty="0"/>
              <a:t>" the box </a:t>
            </a:r>
            <a:r>
              <a:rPr lang="en-US" b="1" dirty="0">
                <a:solidFill>
                  <a:srgbClr val="C00000"/>
                </a:solidFill>
              </a:rPr>
              <a:t>returns the input value</a:t>
            </a:r>
            <a:r>
              <a:rPr lang="en-US" dirty="0"/>
              <a:t>, If the user clicks "</a:t>
            </a:r>
            <a:r>
              <a:rPr lang="en-US" b="1" dirty="0">
                <a:solidFill>
                  <a:srgbClr val="C00000"/>
                </a:solidFill>
              </a:rPr>
              <a:t>Cancel</a:t>
            </a:r>
            <a:r>
              <a:rPr lang="en-US" dirty="0"/>
              <a:t>" the box </a:t>
            </a:r>
            <a:r>
              <a:rPr lang="en-US" b="1" dirty="0">
                <a:solidFill>
                  <a:srgbClr val="C00000"/>
                </a:solidFill>
              </a:rPr>
              <a:t>returns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null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5518" y="2604827"/>
            <a:ext cx="4305300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12618" y="2614352"/>
            <a:ext cx="3810000" cy="1477328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</a:t>
            </a:r>
            <a:endParaRPr lang="en-US" dirty="0"/>
          </a:p>
          <a:p>
            <a:r>
              <a:rPr lang="en-US" dirty="0"/>
              <a:t>&lt;script&gt;</a:t>
            </a:r>
          </a:p>
          <a:p>
            <a:r>
              <a:rPr lang="en-US" dirty="0"/>
              <a:t>   </a:t>
            </a:r>
            <a:r>
              <a:rPr lang="en-US" dirty="0" err="1"/>
              <a:t>var</a:t>
            </a:r>
            <a:r>
              <a:rPr lang="en-US" dirty="0"/>
              <a:t> a = </a:t>
            </a:r>
            <a:r>
              <a:rPr lang="en-US" b="1" dirty="0"/>
              <a:t>prompt</a:t>
            </a:r>
            <a:r>
              <a:rPr lang="en-US" dirty="0"/>
              <a:t>(“Enter Name");</a:t>
            </a:r>
          </a:p>
          <a:p>
            <a:r>
              <a:rPr lang="en-US" dirty="0"/>
              <a:t>   alert(“User Entered ” + a);</a:t>
            </a:r>
          </a:p>
          <a:p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35377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create external JavaScript file and embed it in many html pages.</a:t>
            </a:r>
          </a:p>
          <a:p>
            <a:r>
              <a:rPr lang="en-US" dirty="0"/>
              <a:t>It provides code reusability because single JavaScript file can be used in several html pages.</a:t>
            </a:r>
          </a:p>
          <a:p>
            <a:r>
              <a:rPr lang="en-US" dirty="0"/>
              <a:t>An external JavaScript file must be saved by </a:t>
            </a:r>
            <a:r>
              <a:rPr lang="en-US" b="1" dirty="0"/>
              <a:t>.</a:t>
            </a:r>
            <a:r>
              <a:rPr lang="en-US" b="1" dirty="0" err="1"/>
              <a:t>js</a:t>
            </a:r>
            <a:r>
              <a:rPr lang="en-US" b="1" dirty="0"/>
              <a:t> </a:t>
            </a:r>
            <a:r>
              <a:rPr lang="en-US" dirty="0"/>
              <a:t>extension.</a:t>
            </a:r>
          </a:p>
          <a:p>
            <a:r>
              <a:rPr lang="en-US" dirty="0"/>
              <a:t>To embed the External JavaScript File to HTML we can use </a:t>
            </a:r>
            <a:r>
              <a:rPr lang="en-US" b="1" i="1" dirty="0">
                <a:solidFill>
                  <a:srgbClr val="C00000"/>
                </a:solidFill>
              </a:rPr>
              <a:t>script</a:t>
            </a:r>
            <a:r>
              <a:rPr lang="en-US" dirty="0"/>
              <a:t> tag with </a:t>
            </a:r>
            <a:r>
              <a:rPr lang="en-US" b="1" i="1" dirty="0" err="1">
                <a:solidFill>
                  <a:srgbClr val="C00000"/>
                </a:solidFill>
              </a:rPr>
              <a:t>src</a:t>
            </a:r>
            <a:r>
              <a:rPr lang="en-US" dirty="0"/>
              <a:t> attribute in the head section to specify the path of JavaScript file.</a:t>
            </a:r>
          </a:p>
          <a:p>
            <a:r>
              <a:rPr lang="en-US" dirty="0"/>
              <a:t>For Example :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9545" y="3444240"/>
            <a:ext cx="8458200" cy="2585323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message.js</a:t>
            </a:r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myAlert</a:t>
            </a:r>
            <a:r>
              <a:rPr lang="en-US" dirty="0"/>
              <a:t>(</a:t>
            </a:r>
            <a:r>
              <a:rPr lang="en-US" dirty="0" err="1"/>
              <a:t>msg</a:t>
            </a:r>
            <a:r>
              <a:rPr lang="en-US" dirty="0"/>
              <a:t>) {</a:t>
            </a:r>
          </a:p>
          <a:p>
            <a:r>
              <a:rPr lang="en-US" dirty="0"/>
              <a:t>	if(confirm("Are you sure you want to display the message????")) {</a:t>
            </a:r>
          </a:p>
          <a:p>
            <a:r>
              <a:rPr lang="en-US" dirty="0"/>
              <a:t>		alert(</a:t>
            </a:r>
            <a:r>
              <a:rPr lang="en-US" dirty="0" err="1"/>
              <a:t>msg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else {</a:t>
            </a:r>
          </a:p>
          <a:p>
            <a:r>
              <a:rPr lang="en-US" dirty="0"/>
              <a:t>		alert("Message not Displayed as User Canceled Operation");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51618" y="2661459"/>
            <a:ext cx="4368338" cy="2585323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myHtml.html</a:t>
            </a:r>
            <a:endParaRPr lang="en-US" dirty="0"/>
          </a:p>
          <a:p>
            <a:r>
              <a:rPr lang="en-US" dirty="0"/>
              <a:t>&lt;html&gt;</a:t>
            </a:r>
          </a:p>
          <a:p>
            <a:r>
              <a:rPr lang="en-US" dirty="0"/>
              <a:t>    &lt;head&gt;</a:t>
            </a:r>
          </a:p>
          <a:p>
            <a:r>
              <a:rPr lang="en-US" dirty="0"/>
              <a:t>        &lt;script </a:t>
            </a:r>
            <a:r>
              <a:rPr lang="en-US" b="1" dirty="0" err="1"/>
              <a:t>src</a:t>
            </a:r>
            <a:r>
              <a:rPr lang="en-US" dirty="0"/>
              <a:t>=“message.js”&gt;&lt;/script&gt;</a:t>
            </a:r>
          </a:p>
          <a:p>
            <a:r>
              <a:rPr lang="en-US" dirty="0"/>
              <a:t>    &lt;/head&gt;</a:t>
            </a:r>
          </a:p>
          <a:p>
            <a:r>
              <a:rPr lang="en-US" dirty="0"/>
              <a:t>    &lt;body&gt;</a:t>
            </a:r>
          </a:p>
          <a:p>
            <a:r>
              <a:rPr lang="en-US" dirty="0"/>
              <a:t>        &lt;script&gt; </a:t>
            </a:r>
            <a:r>
              <a:rPr lang="en-US" dirty="0" err="1"/>
              <a:t>myAlert</a:t>
            </a:r>
            <a:r>
              <a:rPr lang="en-US" dirty="0"/>
              <a:t>(“Hello World”); &lt;/script&gt;</a:t>
            </a:r>
          </a:p>
          <a:p>
            <a:r>
              <a:rPr lang="en-US" dirty="0"/>
              <a:t>    &lt;/body&gt;</a:t>
            </a:r>
          </a:p>
          <a:p>
            <a:r>
              <a:rPr lang="en-US" dirty="0"/>
              <a:t>&lt;/html&gt;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13960" y="5380357"/>
            <a:ext cx="42481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3562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object is just a special kind of data, with properties and methods.</a:t>
            </a:r>
          </a:p>
          <a:p>
            <a:r>
              <a:rPr lang="en-US" dirty="0"/>
              <a:t>Accessing Object Properties</a:t>
            </a:r>
          </a:p>
          <a:p>
            <a:pPr lvl="1"/>
            <a:r>
              <a:rPr lang="en-US" dirty="0"/>
              <a:t>Properties are the values associated with an object.</a:t>
            </a:r>
          </a:p>
          <a:p>
            <a:pPr lvl="1"/>
            <a:r>
              <a:rPr lang="en-US" dirty="0"/>
              <a:t>The syntax for accessing the property of an object is below</a:t>
            </a:r>
          </a:p>
          <a:p>
            <a:pPr lvl="2">
              <a:buNone/>
            </a:pPr>
            <a:r>
              <a:rPr lang="en-US" i="1" dirty="0"/>
              <a:t>	</a:t>
            </a:r>
            <a:r>
              <a:rPr lang="en-US" i="1" dirty="0" err="1"/>
              <a:t>objectName.propertyName</a:t>
            </a:r>
            <a:endParaRPr lang="en-US" i="1" dirty="0"/>
          </a:p>
          <a:p>
            <a:pPr lvl="1"/>
            <a:r>
              <a:rPr lang="en-US" dirty="0"/>
              <a:t>This example uses the length property of the </a:t>
            </a:r>
            <a:r>
              <a:rPr lang="en-US" dirty="0" err="1"/>
              <a:t>Javascript’s</a:t>
            </a:r>
            <a:r>
              <a:rPr lang="en-US" dirty="0"/>
              <a:t> inbuilt object(String) to find the length of a string:</a:t>
            </a:r>
          </a:p>
          <a:p>
            <a:pPr lvl="2" algn="l">
              <a:buNone/>
            </a:pPr>
            <a:r>
              <a:rPr lang="en-US" i="1" dirty="0"/>
              <a:t>	</a:t>
            </a:r>
            <a:r>
              <a:rPr lang="en-US" i="1" dirty="0" err="1"/>
              <a:t>var</a:t>
            </a:r>
            <a:r>
              <a:rPr lang="en-US" i="1" dirty="0"/>
              <a:t> message="Hello World!";</a:t>
            </a:r>
            <a:br>
              <a:rPr lang="en-US" i="1" dirty="0"/>
            </a:br>
            <a:r>
              <a:rPr lang="en-US" i="1" dirty="0" err="1"/>
              <a:t>var</a:t>
            </a:r>
            <a:r>
              <a:rPr lang="en-US" i="1" dirty="0"/>
              <a:t> x=</a:t>
            </a:r>
            <a:r>
              <a:rPr lang="en-US" i="1" dirty="0" err="1"/>
              <a:t>message.length</a:t>
            </a:r>
            <a:r>
              <a:rPr lang="en-US" i="1" dirty="0"/>
              <a:t>;</a:t>
            </a:r>
            <a:endParaRPr lang="en-US" dirty="0"/>
          </a:p>
          <a:p>
            <a:r>
              <a:rPr lang="en-US" dirty="0"/>
              <a:t>Accessing Object Methods</a:t>
            </a:r>
          </a:p>
          <a:p>
            <a:pPr lvl="1"/>
            <a:r>
              <a:rPr lang="en-US" dirty="0"/>
              <a:t>Methods are the actions that can be performed on objects.</a:t>
            </a:r>
          </a:p>
          <a:p>
            <a:pPr lvl="1" algn="l"/>
            <a:r>
              <a:rPr lang="en-US" dirty="0"/>
              <a:t>You can call a method with the following syntax.</a:t>
            </a:r>
            <a:r>
              <a:rPr lang="en-US" i="1" dirty="0"/>
              <a:t>	</a:t>
            </a:r>
            <a:r>
              <a:rPr lang="en-US" i="1" dirty="0" err="1"/>
              <a:t>objectName.methodName</a:t>
            </a:r>
            <a:r>
              <a:rPr lang="en-US" i="1" dirty="0"/>
              <a:t>()</a:t>
            </a:r>
          </a:p>
          <a:p>
            <a:pPr lvl="1"/>
            <a:r>
              <a:rPr lang="en-US" dirty="0"/>
              <a:t>This example uses the </a:t>
            </a:r>
            <a:r>
              <a:rPr lang="en-US" dirty="0" err="1"/>
              <a:t>toUpperCase</a:t>
            </a:r>
            <a:r>
              <a:rPr lang="en-US" dirty="0"/>
              <a:t> method of the String object to convert string to upper case:</a:t>
            </a:r>
          </a:p>
          <a:p>
            <a:pPr lvl="2" algn="l">
              <a:buNone/>
            </a:pPr>
            <a:r>
              <a:rPr lang="en-US" i="1" dirty="0"/>
              <a:t>	</a:t>
            </a:r>
            <a:r>
              <a:rPr lang="en-US" i="1" dirty="0" err="1"/>
              <a:t>var</a:t>
            </a:r>
            <a:r>
              <a:rPr lang="en-US" i="1" dirty="0"/>
              <a:t> message="Hello World!";</a:t>
            </a:r>
            <a:br>
              <a:rPr lang="en-US" i="1" dirty="0"/>
            </a:br>
            <a:r>
              <a:rPr lang="en-US" i="1" dirty="0" err="1"/>
              <a:t>var</a:t>
            </a:r>
            <a:r>
              <a:rPr lang="en-US" i="1" dirty="0"/>
              <a:t> x=</a:t>
            </a:r>
            <a:r>
              <a:rPr lang="en-US" i="1" dirty="0" err="1"/>
              <a:t>message.toUpperCase</a:t>
            </a:r>
            <a:r>
              <a:rPr lang="en-US" i="1" dirty="0"/>
              <a:t>();</a:t>
            </a:r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595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JavaScript’s inbuilt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comes with some inbuilt objects which are,</a:t>
            </a:r>
          </a:p>
          <a:p>
            <a:pPr lvl="1"/>
            <a:r>
              <a:rPr lang="en-US" dirty="0"/>
              <a:t>String</a:t>
            </a:r>
          </a:p>
          <a:p>
            <a:pPr lvl="1"/>
            <a:r>
              <a:rPr lang="en-US" dirty="0"/>
              <a:t>Date</a:t>
            </a:r>
          </a:p>
          <a:p>
            <a:pPr lvl="1"/>
            <a:r>
              <a:rPr lang="en-US" dirty="0"/>
              <a:t>Array</a:t>
            </a:r>
          </a:p>
          <a:p>
            <a:pPr lvl="1"/>
            <a:r>
              <a:rPr lang="en-US" dirty="0"/>
              <a:t>Boolean</a:t>
            </a:r>
          </a:p>
          <a:p>
            <a:pPr lvl="1"/>
            <a:r>
              <a:rPr lang="en-US" dirty="0"/>
              <a:t>Math</a:t>
            </a:r>
          </a:p>
          <a:p>
            <a:pPr lvl="1"/>
            <a:r>
              <a:rPr lang="en-US" dirty="0" err="1"/>
              <a:t>RegExp</a:t>
            </a:r>
            <a:endParaRPr lang="en-US" dirty="0"/>
          </a:p>
          <a:p>
            <a:pPr lvl="1">
              <a:buNone/>
            </a:pPr>
            <a:r>
              <a:rPr lang="en-US" dirty="0"/>
              <a:t>	etc….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092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Object in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Math object allows you to perform mathematical tasks.</a:t>
            </a:r>
          </a:p>
          <a:p>
            <a:r>
              <a:rPr lang="en-US" dirty="0"/>
              <a:t>The Math object includes several mathematical constants and methods.</a:t>
            </a:r>
          </a:p>
          <a:p>
            <a:r>
              <a:rPr lang="en-US" dirty="0"/>
              <a:t>Math object has some properties which are,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93222" y="2241666"/>
          <a:ext cx="7924801" cy="33375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Euler's number(approx.2.718)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natural logarithm of 2 (approx.0.693)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LN10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natural logarithm of 10 (approx.2.302)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base‐2 logarithm of E (approx.1.442)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LOG10E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base‐10 logarithm of E (approx.0.434)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PI(approx.3.14)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SQRT1_2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square</a:t>
                      </a:r>
                      <a:r>
                        <a:rPr lang="en-US" baseline="0" dirty="0"/>
                        <a:t> root of ½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SQRT2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square root of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822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Methods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399" y="1066800"/>
          <a:ext cx="5608321" cy="4246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71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7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abs(x)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absolute value of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sin(x)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sine of x (x is in radians)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cos</a:t>
                      </a:r>
                      <a:r>
                        <a:rPr lang="en-US" dirty="0"/>
                        <a:t>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cosine of x (x is in radians)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tan(x)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tan of x (x is in radians)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acos</a:t>
                      </a:r>
                      <a:r>
                        <a:rPr lang="en-US" dirty="0"/>
                        <a:t>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arccosine of x, in radians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asin</a:t>
                      </a:r>
                      <a:r>
                        <a:rPr lang="en-US" dirty="0"/>
                        <a:t>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arcsine of x, in radians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atan</a:t>
                      </a:r>
                      <a:r>
                        <a:rPr lang="en-US" dirty="0"/>
                        <a:t>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arctangent of x as a numeric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atan2(x)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arctangent</a:t>
                      </a:r>
                      <a:r>
                        <a:rPr lang="en-US" baseline="0" dirty="0"/>
                        <a:t> of x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random floating number between 0 to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84917" y="1066800"/>
          <a:ext cx="5652655" cy="3876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12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9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value of 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ceil(x)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x, rounded upwards to the nearest 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floor(x)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x, rounded downwards to the nearest 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natural logarithm(base E) of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round(x)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Rounds x to the nearest 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pow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x,y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value of x to the power of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max(</a:t>
                      </a:r>
                      <a:r>
                        <a:rPr lang="en-US" dirty="0" err="1"/>
                        <a:t>x,y,z</a:t>
                      </a:r>
                      <a:r>
                        <a:rPr lang="en-US" dirty="0"/>
                        <a:t>,...,n)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number with the highest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sqrt</a:t>
                      </a:r>
                      <a:r>
                        <a:rPr lang="en-US" dirty="0"/>
                        <a:t>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square root of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24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Defined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allows you to create your own objects.</a:t>
            </a:r>
          </a:p>
          <a:p>
            <a:r>
              <a:rPr lang="en-US" dirty="0"/>
              <a:t>The first step is to use the new operator.</a:t>
            </a:r>
          </a:p>
          <a:p>
            <a:pPr lvl="1">
              <a:buNone/>
            </a:pPr>
            <a:r>
              <a:rPr lang="en-US" i="1" dirty="0" err="1"/>
              <a:t>var</a:t>
            </a:r>
            <a:r>
              <a:rPr lang="en-US" i="1" dirty="0"/>
              <a:t> </a:t>
            </a:r>
            <a:r>
              <a:rPr lang="en-US" i="1" dirty="0" err="1"/>
              <a:t>myObj</a:t>
            </a:r>
            <a:r>
              <a:rPr lang="en-US" i="1" dirty="0"/>
              <a:t>= new Object();</a:t>
            </a:r>
            <a:endParaRPr lang="en-US" dirty="0"/>
          </a:p>
          <a:p>
            <a:r>
              <a:rPr lang="en-US" dirty="0"/>
              <a:t>This creates an empty object, This can then be used to start a new object that you can then give new properties and methods.</a:t>
            </a:r>
          </a:p>
          <a:p>
            <a:r>
              <a:rPr lang="en-US" dirty="0"/>
              <a:t>In object- oriented programming such a new object is usually given a constructor to initialize values when it is first created.</a:t>
            </a:r>
          </a:p>
          <a:p>
            <a:r>
              <a:rPr lang="en-US" dirty="0"/>
              <a:t>However, it is also possible to assign values when it is made with literal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0931" y="4141058"/>
            <a:ext cx="6844145" cy="2308324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example</a:t>
            </a:r>
            <a:endParaRPr lang="en-US" dirty="0"/>
          </a:p>
          <a:p>
            <a:pPr lvl="1"/>
            <a:r>
              <a:rPr lang="en-US" dirty="0"/>
              <a:t>	person={</a:t>
            </a:r>
          </a:p>
          <a:p>
            <a:r>
              <a:rPr lang="en-US" dirty="0"/>
              <a:t>		</a:t>
            </a:r>
            <a:r>
              <a:rPr lang="en-US" dirty="0" err="1"/>
              <a:t>firstname</a:t>
            </a:r>
            <a:r>
              <a:rPr lang="en-US" dirty="0"/>
              <a:t>: "</a:t>
            </a:r>
            <a:r>
              <a:rPr lang="en-US" dirty="0" err="1"/>
              <a:t>Darshan</a:t>
            </a:r>
            <a:r>
              <a:rPr lang="en-US" dirty="0"/>
              <a:t>",</a:t>
            </a:r>
          </a:p>
          <a:p>
            <a:pPr lvl="2"/>
            <a:r>
              <a:rPr lang="en-US" dirty="0"/>
              <a:t>	</a:t>
            </a:r>
            <a:r>
              <a:rPr lang="en-US" dirty="0" err="1"/>
              <a:t>lastname</a:t>
            </a:r>
            <a:r>
              <a:rPr lang="en-US" dirty="0"/>
              <a:t>: "College",</a:t>
            </a:r>
          </a:p>
          <a:p>
            <a:r>
              <a:rPr lang="en-US" dirty="0"/>
              <a:t>		age: 50,</a:t>
            </a:r>
          </a:p>
          <a:p>
            <a:r>
              <a:rPr lang="en-US" dirty="0"/>
              <a:t>		</a:t>
            </a:r>
            <a:r>
              <a:rPr lang="en-US" dirty="0" err="1"/>
              <a:t>eyecolor</a:t>
            </a:r>
            <a:r>
              <a:rPr lang="en-US" dirty="0"/>
              <a:t>: "blue"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    	alert(</a:t>
            </a:r>
            <a:r>
              <a:rPr lang="en-US" dirty="0" err="1"/>
              <a:t>person.firstname</a:t>
            </a:r>
            <a:r>
              <a:rPr lang="en-US" dirty="0"/>
              <a:t> + " is " + </a:t>
            </a:r>
            <a:r>
              <a:rPr lang="en-US" dirty="0" err="1"/>
              <a:t>person.age</a:t>
            </a:r>
            <a:r>
              <a:rPr lang="en-US" dirty="0"/>
              <a:t> + " years old.");</a:t>
            </a:r>
          </a:p>
        </p:txBody>
      </p:sp>
    </p:spTree>
    <p:extLst>
      <p:ext uri="{BB962C8B-B14F-4D97-AF65-F5344CB8AC3E}">
        <p14:creationId xmlns:p14="http://schemas.microsoft.com/office/powerpoint/2010/main" val="141123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- Defined Objects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constructor is pre defined method that will initialize your object.</a:t>
            </a:r>
          </a:p>
          <a:p>
            <a:r>
              <a:rPr lang="en-US" dirty="0"/>
              <a:t>To do this in JavaScript a function is used that is invoked through the </a:t>
            </a:r>
            <a:r>
              <a:rPr lang="en-US" i="1" dirty="0"/>
              <a:t>new</a:t>
            </a:r>
            <a:r>
              <a:rPr lang="en-US" dirty="0"/>
              <a:t> operator.</a:t>
            </a:r>
          </a:p>
          <a:p>
            <a:r>
              <a:rPr lang="en-US" dirty="0"/>
              <a:t>Any properties inside the newly created object are assigned using </a:t>
            </a:r>
            <a:r>
              <a:rPr lang="en-US" i="1" dirty="0"/>
              <a:t>this</a:t>
            </a:r>
            <a:r>
              <a:rPr lang="en-US" dirty="0"/>
              <a:t> keyword, referring to the current object being created.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29243" y="2669771"/>
            <a:ext cx="8458200" cy="3139321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example</a:t>
            </a:r>
            <a:endParaRPr lang="en-US" dirty="0"/>
          </a:p>
          <a:p>
            <a:r>
              <a:rPr lang="en-US" dirty="0"/>
              <a:t> &lt;script&gt;</a:t>
            </a:r>
          </a:p>
          <a:p>
            <a:r>
              <a:rPr lang="en-US" dirty="0"/>
              <a:t>	function person(</a:t>
            </a:r>
            <a:r>
              <a:rPr lang="en-US" dirty="0" err="1"/>
              <a:t>firstname</a:t>
            </a:r>
            <a:r>
              <a:rPr lang="en-US" dirty="0"/>
              <a:t>, </a:t>
            </a:r>
            <a:r>
              <a:rPr lang="en-US" dirty="0" err="1"/>
              <a:t>lastname</a:t>
            </a:r>
            <a:r>
              <a:rPr lang="en-US" dirty="0"/>
              <a:t>, age){</a:t>
            </a:r>
          </a:p>
          <a:p>
            <a:r>
              <a:rPr lang="en-US" dirty="0"/>
              <a:t>		</a:t>
            </a:r>
            <a:r>
              <a:rPr lang="en-US" dirty="0" err="1"/>
              <a:t>this.firstname</a:t>
            </a:r>
            <a:r>
              <a:rPr lang="en-US" dirty="0"/>
              <a:t> = </a:t>
            </a:r>
            <a:r>
              <a:rPr lang="en-US" dirty="0" err="1"/>
              <a:t>firstname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this.lastname</a:t>
            </a:r>
            <a:r>
              <a:rPr lang="en-US" dirty="0"/>
              <a:t> = </a:t>
            </a:r>
            <a:r>
              <a:rPr lang="en-US" dirty="0" err="1"/>
              <a:t>lastname</a:t>
            </a:r>
            <a:r>
              <a:rPr lang="en-US" dirty="0"/>
              <a:t>;</a:t>
            </a:r>
          </a:p>
          <a:p>
            <a:r>
              <a:rPr lang="en-US" dirty="0"/>
              <a:t>		this. </a:t>
            </a:r>
            <a:r>
              <a:rPr lang="en-US" dirty="0" err="1"/>
              <a:t>changeFirstName</a:t>
            </a:r>
            <a:r>
              <a:rPr lang="en-US" dirty="0"/>
              <a:t> = function (name){ </a:t>
            </a:r>
            <a:r>
              <a:rPr lang="en-US" dirty="0" err="1"/>
              <a:t>this.firstname</a:t>
            </a:r>
            <a:r>
              <a:rPr lang="en-US" dirty="0"/>
              <a:t> = name };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</a:t>
            </a:r>
            <a:r>
              <a:rPr lang="en-US" dirty="0" err="1"/>
              <a:t>var</a:t>
            </a:r>
            <a:r>
              <a:rPr lang="en-US" dirty="0"/>
              <a:t> person1=new person("Narendra","Modi",50);</a:t>
            </a:r>
          </a:p>
          <a:p>
            <a:r>
              <a:rPr lang="en-US" dirty="0"/>
              <a:t>	person1.changeFirstName(“NAMO”);</a:t>
            </a:r>
          </a:p>
          <a:p>
            <a:r>
              <a:rPr lang="en-US" dirty="0"/>
              <a:t>	alert(person1.firstname + “ ”+ person1.lastname);</a:t>
            </a:r>
          </a:p>
          <a:p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04425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Validation is the process of </a:t>
            </a:r>
            <a:r>
              <a:rPr lang="en-US" b="1" dirty="0"/>
              <a:t>checking</a:t>
            </a:r>
            <a:r>
              <a:rPr lang="en-US" dirty="0"/>
              <a:t> data against a </a:t>
            </a:r>
            <a:r>
              <a:rPr lang="en-US" b="1" dirty="0"/>
              <a:t>standard</a:t>
            </a:r>
            <a:r>
              <a:rPr lang="en-US" dirty="0"/>
              <a:t> or </a:t>
            </a:r>
            <a:r>
              <a:rPr lang="en-US" b="1" dirty="0"/>
              <a:t>requirement</a:t>
            </a:r>
            <a:r>
              <a:rPr lang="en-US" dirty="0"/>
              <a:t>.</a:t>
            </a:r>
          </a:p>
          <a:p>
            <a:r>
              <a:rPr lang="en-US" dirty="0"/>
              <a:t>Form validation normally used to occur at the server, after client entered necessary data and then pressed the Submit button.</a:t>
            </a:r>
          </a:p>
          <a:p>
            <a:r>
              <a:rPr lang="en-US" dirty="0"/>
              <a:t>If the data entered by a client was incorrect or was simply missing, the server would have to send all the data back to the client and request that the form be resubmitted with correct information.</a:t>
            </a:r>
          </a:p>
          <a:p>
            <a:r>
              <a:rPr lang="en-US" dirty="0"/>
              <a:t>This was really a lengthy process which used to put a lot of burden on the server.</a:t>
            </a:r>
          </a:p>
          <a:p>
            <a:r>
              <a:rPr lang="en-US" dirty="0"/>
              <a:t>JavaScript provides a way to validate form's data on the client's computer before sending it to the web server.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3239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Form validation generally performs two functions.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/>
              <a:t>Basic Validation</a:t>
            </a:r>
          </a:p>
          <a:p>
            <a:pPr lvl="2"/>
            <a:r>
              <a:rPr lang="en-US" sz="2400" dirty="0"/>
              <a:t>Emptiness</a:t>
            </a:r>
          </a:p>
          <a:p>
            <a:pPr lvl="2"/>
            <a:r>
              <a:rPr lang="en-US" sz="2400" dirty="0"/>
              <a:t>Confirm Password</a:t>
            </a:r>
          </a:p>
          <a:p>
            <a:pPr lvl="2"/>
            <a:r>
              <a:rPr lang="en-US" sz="2400" dirty="0"/>
              <a:t>Length Validation etc……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/>
              <a:t>Data Format Validation</a:t>
            </a:r>
          </a:p>
          <a:p>
            <a:pPr marL="1314450" lvl="2" indent="-457200">
              <a:buNone/>
            </a:pPr>
            <a:r>
              <a:rPr lang="en-US" sz="2400" dirty="0"/>
              <a:t>  	Secondly, the data that is entered must be checked for correct </a:t>
            </a:r>
            <a:r>
              <a:rPr lang="en-US" sz="2400" b="1" dirty="0"/>
              <a:t>form</a:t>
            </a:r>
            <a:r>
              <a:rPr lang="en-US" sz="2400" dirty="0"/>
              <a:t> and </a:t>
            </a:r>
            <a:r>
              <a:rPr lang="en-US" sz="2400" b="1" dirty="0"/>
              <a:t>value</a:t>
            </a:r>
            <a:r>
              <a:rPr lang="en-US" sz="2400" dirty="0"/>
              <a:t>.</a:t>
            </a:r>
          </a:p>
          <a:p>
            <a:pPr marL="1314450" lvl="2" indent="-457200"/>
            <a:r>
              <a:rPr lang="en-US" sz="2400" dirty="0"/>
              <a:t>Email Validation</a:t>
            </a:r>
          </a:p>
          <a:p>
            <a:pPr marL="1314450" lvl="2" indent="-457200"/>
            <a:r>
              <a:rPr lang="en-US" sz="2400" dirty="0"/>
              <a:t>Mobile Number Validation</a:t>
            </a:r>
          </a:p>
          <a:p>
            <a:pPr marL="1314450" lvl="2" indent="-457200"/>
            <a:r>
              <a:rPr lang="en-US" sz="2400" dirty="0"/>
              <a:t>Enrollment Number Validation etc….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0421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using </a:t>
            </a:r>
            <a:r>
              <a:rPr lang="en-US" dirty="0" err="1"/>
              <a:t>RegExp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regular expression is an object that describes a pattern of characters.</a:t>
            </a:r>
          </a:p>
          <a:p>
            <a:r>
              <a:rPr lang="en-US" dirty="0"/>
              <a:t>Regular expressions are used to perform pattern-matching and "search-and-replace" functions on text.</a:t>
            </a:r>
          </a:p>
          <a:p>
            <a:r>
              <a:rPr lang="en-US" dirty="0"/>
              <a:t>example:</a:t>
            </a:r>
          </a:p>
          <a:p>
            <a:pPr lvl="1">
              <a:buNone/>
            </a:pPr>
            <a:r>
              <a:rPr lang="sv-SE" dirty="0">
                <a:latin typeface="Consolas" panose="020B0609020204030204" pitchFamily="49" charset="0"/>
              </a:rPr>
              <a:t>var pattern = "^[\\w]+$";   // will allow only words in the string</a:t>
            </a:r>
          </a:p>
          <a:p>
            <a:pPr lvl="1">
              <a:buNone/>
            </a:pPr>
            <a:r>
              <a:rPr lang="sv-SE" dirty="0">
                <a:latin typeface="Consolas" panose="020B0609020204030204" pitchFamily="49" charset="0"/>
              </a:rPr>
              <a:t>var regex = new RegExp(pattern);</a:t>
            </a:r>
          </a:p>
          <a:p>
            <a:pPr lvl="1">
              <a:buNone/>
            </a:pPr>
            <a:r>
              <a:rPr lang="sv-SE" dirty="0">
                <a:latin typeface="Consolas" panose="020B0609020204030204" pitchFamily="49" charset="0"/>
              </a:rPr>
              <a:t>If(regex.test(testString)){</a:t>
            </a:r>
          </a:p>
          <a:p>
            <a:pPr lvl="1">
              <a:buNone/>
            </a:pPr>
            <a:r>
              <a:rPr lang="sv-SE" dirty="0">
                <a:latin typeface="Consolas" panose="020B0609020204030204" pitchFamily="49" charset="0"/>
              </a:rPr>
              <a:t>	//Valid</a:t>
            </a:r>
          </a:p>
          <a:p>
            <a:pPr lvl="1">
              <a:buNone/>
            </a:pPr>
            <a:r>
              <a:rPr lang="sv-SE" dirty="0">
                <a:latin typeface="Consolas" panose="020B0609020204030204" pitchFamily="49" charset="0"/>
              </a:rPr>
              <a:t>} else {</a:t>
            </a:r>
          </a:p>
          <a:p>
            <a:pPr lvl="1">
              <a:buNone/>
            </a:pPr>
            <a:r>
              <a:rPr lang="sv-SE" dirty="0">
                <a:latin typeface="Consolas" panose="020B0609020204030204" pitchFamily="49" charset="0"/>
              </a:rPr>
              <a:t>	//Invalid</a:t>
            </a:r>
          </a:p>
          <a:p>
            <a:pPr lvl="1">
              <a:buNone/>
            </a:pPr>
            <a:r>
              <a:rPr lang="sv-SE" dirty="0"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504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RegExp</a:t>
            </a:r>
            <a:r>
              <a:rPr lang="en-US" dirty="0"/>
              <a:t> (Cont.) (</a:t>
            </a:r>
            <a:r>
              <a:rPr lang="en-US" dirty="0" err="1"/>
              <a:t>Metacharacters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find </a:t>
            </a:r>
            <a:r>
              <a:rPr lang="en-US" b="1" dirty="0"/>
              <a:t>word </a:t>
            </a:r>
            <a:r>
              <a:rPr lang="en-US" dirty="0"/>
              <a:t>characters in the string we can use </a:t>
            </a:r>
            <a:r>
              <a:rPr lang="en-US" b="1" dirty="0">
                <a:latin typeface="Consolas" panose="020B0609020204030204" pitchFamily="49" charset="0"/>
              </a:rPr>
              <a:t>\w</a:t>
            </a:r>
          </a:p>
          <a:p>
            <a:pPr lvl="1"/>
            <a:r>
              <a:rPr lang="en-US" dirty="0"/>
              <a:t>We can also use [a-zA-Z0-9</a:t>
            </a:r>
            <a:r>
              <a:rPr lang="en-US" dirty="0">
                <a:latin typeface="Consolas" panose="020B0609020204030204" pitchFamily="49" charset="0"/>
              </a:rPr>
              <a:t>_</a:t>
            </a:r>
            <a:r>
              <a:rPr lang="en-US" dirty="0"/>
              <a:t>] for the same</a:t>
            </a:r>
          </a:p>
          <a:p>
            <a:r>
              <a:rPr lang="en-US" dirty="0"/>
              <a:t>To find </a:t>
            </a:r>
            <a:r>
              <a:rPr lang="en-US" b="1" dirty="0"/>
              <a:t>non-word</a:t>
            </a:r>
            <a:r>
              <a:rPr lang="en-US" dirty="0"/>
              <a:t> characters in the string we can use </a:t>
            </a:r>
            <a:r>
              <a:rPr lang="en-US" b="1" dirty="0">
                <a:latin typeface="Consolas" panose="020B0609020204030204" pitchFamily="49" charset="0"/>
              </a:rPr>
              <a:t>\W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to find </a:t>
            </a:r>
            <a:r>
              <a:rPr lang="en-US" b="1" dirty="0"/>
              <a:t>digit</a:t>
            </a:r>
            <a:r>
              <a:rPr lang="en-US" dirty="0"/>
              <a:t> characters in the string we can use </a:t>
            </a:r>
            <a:r>
              <a:rPr lang="en-US" b="1" dirty="0">
                <a:latin typeface="Consolas" panose="020B0609020204030204" pitchFamily="49" charset="0"/>
              </a:rPr>
              <a:t>\d</a:t>
            </a:r>
          </a:p>
          <a:p>
            <a:pPr lvl="1"/>
            <a:r>
              <a:rPr lang="en-US" dirty="0"/>
              <a:t>We can also use [0-9] for the same</a:t>
            </a:r>
          </a:p>
          <a:p>
            <a:r>
              <a:rPr lang="en-US" dirty="0"/>
              <a:t>To find </a:t>
            </a:r>
            <a:r>
              <a:rPr lang="en-US" b="1" dirty="0"/>
              <a:t>non-digit</a:t>
            </a:r>
            <a:r>
              <a:rPr lang="en-US" dirty="0"/>
              <a:t> characters in the string we can use </a:t>
            </a:r>
            <a:r>
              <a:rPr lang="en-US" b="1" dirty="0">
                <a:latin typeface="Consolas" panose="020B0609020204030204" pitchFamily="49" charset="0"/>
              </a:rPr>
              <a:t>\D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We can use </a:t>
            </a:r>
            <a:r>
              <a:rPr lang="en-US" b="1" dirty="0">
                <a:latin typeface="Consolas" panose="020B0609020204030204" pitchFamily="49" charset="0"/>
              </a:rPr>
              <a:t>\n </a:t>
            </a:r>
            <a:r>
              <a:rPr lang="en-US" dirty="0"/>
              <a:t>for </a:t>
            </a:r>
            <a:r>
              <a:rPr lang="en-US" b="1" dirty="0"/>
              <a:t>new line </a:t>
            </a:r>
            <a:r>
              <a:rPr lang="en-US" dirty="0"/>
              <a:t>and </a:t>
            </a:r>
            <a:r>
              <a:rPr lang="en-US" b="1" dirty="0">
                <a:latin typeface="Consolas" panose="020B0609020204030204" pitchFamily="49" charset="0"/>
              </a:rPr>
              <a:t>\t </a:t>
            </a:r>
            <a:r>
              <a:rPr lang="en-US" dirty="0"/>
              <a:t>for tab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085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RegExp</a:t>
            </a:r>
            <a:r>
              <a:rPr lang="en-US" dirty="0"/>
              <a:t> (Cont.) (Quantifiers)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95400"/>
          <a:ext cx="7772400" cy="3616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51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Quantifier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/>
                        <a:t>Matches any string that contains at least one 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/>
                        <a:t>Matches any string that contains zero or more occurrences of 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Matches any string that contains zero or one occurrences of 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Matches any string with n at the end of it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^n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Matches any string with n at the beginning of it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n{X}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Matches any string that contains a sequence of X </a:t>
                      </a:r>
                      <a:r>
                        <a:rPr lang="en-US" dirty="0" err="1"/>
                        <a:t>n's</a:t>
                      </a:r>
                      <a:endParaRPr lang="en-US" dirty="0"/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n{X,Y}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Matches any string that contains a sequence of X to Y </a:t>
                      </a:r>
                      <a:r>
                        <a:rPr lang="en-US" dirty="0" err="1"/>
                        <a:t>n's</a:t>
                      </a:r>
                      <a:endParaRPr lang="en-US" dirty="0"/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n{X,}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/>
                        <a:t>Matches any string that contains a sequence of at least X </a:t>
                      </a:r>
                      <a:r>
                        <a:rPr lang="en-US" sz="1800" kern="1200" dirty="0" err="1"/>
                        <a:t>n's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2595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Validation Using </a:t>
            </a:r>
            <a:r>
              <a:rPr lang="en-US" dirty="0" err="1"/>
              <a:t>RegExp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14497" y="971204"/>
            <a:ext cx="10167851" cy="4801314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JavaScript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&lt;script&gt;</a:t>
            </a:r>
          </a:p>
          <a:p>
            <a:r>
              <a:rPr lang="en-US" dirty="0">
                <a:latin typeface="Consolas" panose="020B0609020204030204" pitchFamily="49" charset="0"/>
              </a:rPr>
              <a:t>	function </a:t>
            </a:r>
            <a:r>
              <a:rPr lang="en-US" dirty="0" err="1">
                <a:latin typeface="Consolas" panose="020B0609020204030204" pitchFamily="49" charset="0"/>
              </a:rPr>
              <a:t>checkMail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latin typeface="Consolas" panose="020B0609020204030204" pitchFamily="49" charset="0"/>
              </a:rPr>
              <a:t>	{</a:t>
            </a:r>
          </a:p>
          <a:p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var</a:t>
            </a:r>
            <a:r>
              <a:rPr lang="en-US" dirty="0">
                <a:latin typeface="Consolas" panose="020B0609020204030204" pitchFamily="49" charset="0"/>
              </a:rPr>
              <a:t> a = </a:t>
            </a:r>
            <a:r>
              <a:rPr lang="en-US" dirty="0" err="1">
                <a:latin typeface="Consolas" panose="020B0609020204030204" pitchFamily="49" charset="0"/>
              </a:rPr>
              <a:t>document.getElementById</a:t>
            </a:r>
            <a:r>
              <a:rPr lang="en-US" dirty="0">
                <a:latin typeface="Consolas" panose="020B0609020204030204" pitchFamily="49" charset="0"/>
              </a:rPr>
              <a:t>("</a:t>
            </a:r>
            <a:r>
              <a:rPr lang="en-US" dirty="0" err="1">
                <a:latin typeface="Consolas" panose="020B0609020204030204" pitchFamily="49" charset="0"/>
              </a:rPr>
              <a:t>myText</a:t>
            </a:r>
            <a:r>
              <a:rPr lang="en-US" dirty="0">
                <a:latin typeface="Consolas" panose="020B0609020204030204" pitchFamily="49" charset="0"/>
              </a:rPr>
              <a:t>").value;</a:t>
            </a:r>
          </a:p>
          <a:p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var</a:t>
            </a:r>
            <a:r>
              <a:rPr lang="en-US" dirty="0">
                <a:latin typeface="Consolas" panose="020B0609020204030204" pitchFamily="49" charset="0"/>
              </a:rPr>
              <a:t> pattern ="^[\\w-_\.]*[\\w-_\.]\@[\\w]\.+[\\w]+[\\w]$”;</a:t>
            </a:r>
          </a:p>
          <a:p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var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regex</a:t>
            </a:r>
            <a:r>
              <a:rPr lang="en-US" dirty="0">
                <a:latin typeface="Consolas" panose="020B0609020204030204" pitchFamily="49" charset="0"/>
              </a:rPr>
              <a:t> = new </a:t>
            </a:r>
            <a:r>
              <a:rPr lang="en-US" dirty="0" err="1">
                <a:latin typeface="Consolas" panose="020B0609020204030204" pitchFamily="49" charset="0"/>
              </a:rPr>
              <a:t>RegExp</a:t>
            </a:r>
            <a:r>
              <a:rPr lang="en-US" dirty="0">
                <a:latin typeface="Consolas" panose="020B0609020204030204" pitchFamily="49" charset="0"/>
              </a:rPr>
              <a:t>(pattern);</a:t>
            </a:r>
          </a:p>
          <a:p>
            <a:r>
              <a:rPr lang="en-US" dirty="0">
                <a:latin typeface="Consolas" panose="020B0609020204030204" pitchFamily="49" charset="0"/>
              </a:rPr>
              <a:t>		if(</a:t>
            </a:r>
            <a:r>
              <a:rPr lang="en-US" dirty="0" err="1">
                <a:latin typeface="Consolas" panose="020B0609020204030204" pitchFamily="49" charset="0"/>
              </a:rPr>
              <a:t>regex.test</a:t>
            </a:r>
            <a:r>
              <a:rPr lang="en-US" dirty="0">
                <a:latin typeface="Consolas" panose="020B0609020204030204" pitchFamily="49" charset="0"/>
              </a:rPr>
              <a:t>(a))</a:t>
            </a:r>
          </a:p>
          <a:p>
            <a:r>
              <a:rPr lang="en-US" dirty="0">
                <a:latin typeface="Consolas" panose="020B0609020204030204" pitchFamily="49" charset="0"/>
              </a:rPr>
              <a:t>		{</a:t>
            </a:r>
          </a:p>
          <a:p>
            <a:r>
              <a:rPr lang="en-US" dirty="0">
                <a:latin typeface="Consolas" panose="020B0609020204030204" pitchFamily="49" charset="0"/>
              </a:rPr>
              <a:t>			alert("Valid");</a:t>
            </a:r>
          </a:p>
          <a:p>
            <a:r>
              <a:rPr lang="en-US" dirty="0">
                <a:latin typeface="Consolas" panose="020B0609020204030204" pitchFamily="49" charset="0"/>
              </a:rPr>
              <a:t>		}</a:t>
            </a:r>
          </a:p>
          <a:p>
            <a:r>
              <a:rPr lang="en-US" dirty="0">
                <a:latin typeface="Consolas" panose="020B0609020204030204" pitchFamily="49" charset="0"/>
              </a:rPr>
              <a:t>		else</a:t>
            </a:r>
          </a:p>
          <a:p>
            <a:r>
              <a:rPr lang="en-US" dirty="0">
                <a:latin typeface="Consolas" panose="020B0609020204030204" pitchFamily="49" charset="0"/>
              </a:rPr>
              <a:t>		{</a:t>
            </a:r>
          </a:p>
          <a:p>
            <a:r>
              <a:rPr lang="en-US" dirty="0">
                <a:latin typeface="Consolas" panose="020B0609020204030204" pitchFamily="49" charset="0"/>
              </a:rPr>
              <a:t>			alert("Invalid");</a:t>
            </a:r>
          </a:p>
          <a:p>
            <a:r>
              <a:rPr lang="en-US" dirty="0">
                <a:latin typeface="Consolas" panose="020B0609020204030204" pitchFamily="49" charset="0"/>
              </a:rPr>
              <a:t>		}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36105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Object Model (DOM)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Document Object Model is a platform and language neutral interface that will allow programs and scripts to dynamically access and update the content, structure and style of documents.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window</a:t>
            </a:r>
            <a:r>
              <a:rPr lang="en-US" b="1" dirty="0"/>
              <a:t> </a:t>
            </a:r>
            <a:r>
              <a:rPr lang="en-US" dirty="0"/>
              <a:t>object is the primary point from which most other objects come.</a:t>
            </a:r>
          </a:p>
          <a:p>
            <a:r>
              <a:rPr lang="en-US" dirty="0"/>
              <a:t>From the current window object </a:t>
            </a:r>
            <a:r>
              <a:rPr lang="en-US" b="1" dirty="0">
                <a:solidFill>
                  <a:srgbClr val="C00000"/>
                </a:solidFill>
              </a:rPr>
              <a:t>access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control</a:t>
            </a:r>
            <a:r>
              <a:rPr lang="en-US" dirty="0"/>
              <a:t> can be given to most aspects of the </a:t>
            </a:r>
            <a:r>
              <a:rPr lang="en-US" b="1" dirty="0">
                <a:solidFill>
                  <a:srgbClr val="C00000"/>
                </a:solidFill>
              </a:rPr>
              <a:t>browser features </a:t>
            </a:r>
            <a:r>
              <a:rPr lang="en-US" dirty="0"/>
              <a:t>and the </a:t>
            </a:r>
            <a:r>
              <a:rPr lang="en-US" b="1" dirty="0">
                <a:solidFill>
                  <a:srgbClr val="C00000"/>
                </a:solidFill>
              </a:rPr>
              <a:t>HTML document</a:t>
            </a:r>
            <a:r>
              <a:rPr lang="en-US" dirty="0"/>
              <a:t>.</a:t>
            </a:r>
          </a:p>
          <a:p>
            <a:r>
              <a:rPr lang="en-US" dirty="0"/>
              <a:t>When we write :</a:t>
            </a:r>
          </a:p>
          <a:p>
            <a:pPr lvl="1">
              <a:buNone/>
            </a:pPr>
            <a:r>
              <a:rPr lang="en-US" dirty="0"/>
              <a:t>	</a:t>
            </a:r>
            <a:r>
              <a:rPr lang="en-US" dirty="0" err="1"/>
              <a:t>document.write</a:t>
            </a:r>
            <a:r>
              <a:rPr lang="en-US" dirty="0"/>
              <a:t>(“Hello World”);</a:t>
            </a:r>
          </a:p>
          <a:p>
            <a:r>
              <a:rPr lang="en-US" dirty="0"/>
              <a:t>We are actually writing :</a:t>
            </a:r>
          </a:p>
          <a:p>
            <a:pPr lvl="1">
              <a:buNone/>
            </a:pPr>
            <a:r>
              <a:rPr lang="en-US" dirty="0"/>
              <a:t>	</a:t>
            </a:r>
            <a:r>
              <a:rPr lang="en-US" dirty="0" err="1"/>
              <a:t>window.document.write</a:t>
            </a:r>
            <a:r>
              <a:rPr lang="en-US" dirty="0"/>
              <a:t>(“Hello World”);</a:t>
            </a:r>
          </a:p>
          <a:p>
            <a:pPr lvl="1">
              <a:buNone/>
            </a:pP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window</a:t>
            </a:r>
            <a:r>
              <a:rPr lang="en-US" b="1" dirty="0"/>
              <a:t> </a:t>
            </a:r>
            <a:r>
              <a:rPr lang="en-US" dirty="0"/>
              <a:t>is just there by default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5943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</a:t>
            </a:r>
            <a:r>
              <a:rPr lang="en-US" b="1" dirty="0"/>
              <a:t>window</a:t>
            </a:r>
            <a:r>
              <a:rPr lang="en-US" dirty="0"/>
              <a:t> object represents the window or frame that displays the document and is the global object in client side programming for JavaScript.</a:t>
            </a:r>
          </a:p>
          <a:p>
            <a:r>
              <a:rPr lang="en-US" dirty="0"/>
              <a:t>All the client side objects are connected to the window object.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871258" y="2341419"/>
            <a:ext cx="11430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window</a:t>
            </a:r>
          </a:p>
        </p:txBody>
      </p:sp>
      <p:grpSp>
        <p:nvGrpSpPr>
          <p:cNvPr id="5" name="Group 31"/>
          <p:cNvGrpSpPr/>
          <p:nvPr/>
        </p:nvGrpSpPr>
        <p:grpSpPr>
          <a:xfrm>
            <a:off x="2051858" y="3255821"/>
            <a:ext cx="1219200" cy="1904998"/>
            <a:chOff x="381000" y="3962402"/>
            <a:chExt cx="1219200" cy="1904998"/>
          </a:xfrm>
        </p:grpSpPr>
        <p:sp>
          <p:nvSpPr>
            <p:cNvPr id="6" name="Rectangle 5"/>
            <p:cNvSpPr/>
            <p:nvPr/>
          </p:nvSpPr>
          <p:spPr>
            <a:xfrm>
              <a:off x="381000" y="4648200"/>
              <a:ext cx="1219200" cy="1219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self,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parent,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window,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top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 rot="16200000" flipH="1">
              <a:off x="646907" y="4304507"/>
              <a:ext cx="685798" cy="1587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32"/>
          <p:cNvGrpSpPr/>
          <p:nvPr/>
        </p:nvGrpSpPr>
        <p:grpSpPr>
          <a:xfrm>
            <a:off x="3347258" y="3255821"/>
            <a:ext cx="1143000" cy="1142998"/>
            <a:chOff x="1676400" y="3962402"/>
            <a:chExt cx="1143000" cy="1142998"/>
          </a:xfrm>
        </p:grpSpPr>
        <p:sp>
          <p:nvSpPr>
            <p:cNvPr id="9" name="Rectangle 8"/>
            <p:cNvSpPr/>
            <p:nvPr/>
          </p:nvSpPr>
          <p:spPr>
            <a:xfrm>
              <a:off x="1676400" y="4648200"/>
              <a:ext cx="11430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frames[]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rot="16200000" flipH="1">
              <a:off x="1867695" y="4304507"/>
              <a:ext cx="685798" cy="1587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33"/>
          <p:cNvGrpSpPr/>
          <p:nvPr/>
        </p:nvGrpSpPr>
        <p:grpSpPr>
          <a:xfrm>
            <a:off x="4566458" y="3255820"/>
            <a:ext cx="1143000" cy="1142999"/>
            <a:chOff x="2895600" y="3962401"/>
            <a:chExt cx="1143000" cy="1142999"/>
          </a:xfrm>
        </p:grpSpPr>
        <p:sp>
          <p:nvSpPr>
            <p:cNvPr id="12" name="Rectangle 11"/>
            <p:cNvSpPr/>
            <p:nvPr/>
          </p:nvSpPr>
          <p:spPr>
            <a:xfrm>
              <a:off x="2895600" y="4648200"/>
              <a:ext cx="11430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navigator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rot="16200000" flipH="1">
              <a:off x="3086895" y="4304506"/>
              <a:ext cx="685798" cy="1587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34"/>
          <p:cNvGrpSpPr/>
          <p:nvPr/>
        </p:nvGrpSpPr>
        <p:grpSpPr>
          <a:xfrm>
            <a:off x="5785658" y="3255821"/>
            <a:ext cx="1143000" cy="1142998"/>
            <a:chOff x="4114800" y="3962402"/>
            <a:chExt cx="1143000" cy="1142998"/>
          </a:xfrm>
        </p:grpSpPr>
        <p:sp>
          <p:nvSpPr>
            <p:cNvPr id="15" name="Rectangle 14"/>
            <p:cNvSpPr/>
            <p:nvPr/>
          </p:nvSpPr>
          <p:spPr>
            <a:xfrm>
              <a:off x="4114800" y="4648200"/>
              <a:ext cx="11430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location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rot="16200000" flipH="1">
              <a:off x="4302919" y="4304507"/>
              <a:ext cx="685798" cy="1587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35"/>
          <p:cNvGrpSpPr/>
          <p:nvPr/>
        </p:nvGrpSpPr>
        <p:grpSpPr>
          <a:xfrm>
            <a:off x="7004858" y="3255821"/>
            <a:ext cx="1066800" cy="1142998"/>
            <a:chOff x="5334000" y="3962402"/>
            <a:chExt cx="1066800" cy="1142998"/>
          </a:xfrm>
        </p:grpSpPr>
        <p:sp>
          <p:nvSpPr>
            <p:cNvPr id="18" name="Rectangle 17"/>
            <p:cNvSpPr/>
            <p:nvPr/>
          </p:nvSpPr>
          <p:spPr>
            <a:xfrm>
              <a:off x="5334000" y="4648200"/>
              <a:ext cx="10668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history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rot="16200000" flipH="1">
              <a:off x="5523707" y="4304507"/>
              <a:ext cx="685798" cy="1587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36"/>
          <p:cNvGrpSpPr/>
          <p:nvPr/>
        </p:nvGrpSpPr>
        <p:grpSpPr>
          <a:xfrm>
            <a:off x="8147858" y="3255820"/>
            <a:ext cx="1143000" cy="1142999"/>
            <a:chOff x="6477000" y="3962401"/>
            <a:chExt cx="1143000" cy="1142999"/>
          </a:xfrm>
        </p:grpSpPr>
        <p:sp>
          <p:nvSpPr>
            <p:cNvPr id="21" name="Rectangle 20"/>
            <p:cNvSpPr/>
            <p:nvPr/>
          </p:nvSpPr>
          <p:spPr>
            <a:xfrm>
              <a:off x="6477000" y="4648200"/>
              <a:ext cx="11430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document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rot="16200000" flipH="1">
              <a:off x="6742907" y="4304506"/>
              <a:ext cx="685798" cy="1587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37"/>
          <p:cNvGrpSpPr/>
          <p:nvPr/>
        </p:nvGrpSpPr>
        <p:grpSpPr>
          <a:xfrm>
            <a:off x="9367058" y="3255820"/>
            <a:ext cx="914400" cy="1142999"/>
            <a:chOff x="7696200" y="3962401"/>
            <a:chExt cx="914400" cy="1142999"/>
          </a:xfrm>
        </p:grpSpPr>
        <p:sp>
          <p:nvSpPr>
            <p:cNvPr id="24" name="Rectangle 23"/>
            <p:cNvSpPr/>
            <p:nvPr/>
          </p:nvSpPr>
          <p:spPr>
            <a:xfrm>
              <a:off x="7696200" y="4648200"/>
              <a:ext cx="9144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screen</a:t>
              </a: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 rot="16200000" flipH="1">
              <a:off x="7809707" y="4304506"/>
              <a:ext cx="685798" cy="1587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30"/>
          <p:cNvGrpSpPr/>
          <p:nvPr/>
        </p:nvGrpSpPr>
        <p:grpSpPr>
          <a:xfrm>
            <a:off x="2661458" y="2798619"/>
            <a:ext cx="7162800" cy="458788"/>
            <a:chOff x="990600" y="3505200"/>
            <a:chExt cx="7162800" cy="458788"/>
          </a:xfrm>
        </p:grpSpPr>
        <p:cxnSp>
          <p:nvCxnSpPr>
            <p:cNvPr id="27" name="Straight Connector 26"/>
            <p:cNvCxnSpPr/>
            <p:nvPr/>
          </p:nvCxnSpPr>
          <p:spPr>
            <a:xfrm rot="5400000" flipH="1">
              <a:off x="3543300" y="3733006"/>
              <a:ext cx="457200" cy="158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990600" y="3962400"/>
              <a:ext cx="7162800" cy="158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2183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Object Properties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2385" y="1016923"/>
          <a:ext cx="8077200" cy="4764786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205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1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Property</a:t>
                      </a:r>
                      <a:endParaRPr lang="en-US" sz="2000" b="1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Description</a:t>
                      </a:r>
                      <a:endParaRPr lang="en-US" sz="2000" b="1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anchors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Returns a collection of all the anchors in the document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applets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Returns a collection of all the applets in the document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body</a:t>
                      </a:r>
                      <a:endParaRPr lang="en-US" sz="200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Returns the body element of the document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cookie</a:t>
                      </a:r>
                      <a:endParaRPr lang="en-US" sz="200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Returns all name/value pairs of cookies in the document</a:t>
                      </a:r>
                      <a:endParaRPr lang="en-US" sz="200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6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domain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Returns the domain name of the server that loaded the document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forms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Returns a collection of all the forms in the document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images</a:t>
                      </a:r>
                      <a:endParaRPr lang="en-US" sz="200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Returns a collection of all the images in the document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links</a:t>
                      </a:r>
                      <a:endParaRPr lang="en-US" sz="200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/>
                        <a:t>Returns a collection of all the links in the document (CSSs)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referrer</a:t>
                      </a:r>
                      <a:endParaRPr lang="en-US" sz="200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Returns the URL of the document that loaded the current document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1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title</a:t>
                      </a:r>
                      <a:endParaRPr lang="en-US" sz="200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Sets or returns the title of the document</a:t>
                      </a:r>
                      <a:endParaRPr lang="en-US" sz="200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URL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Returns the full URL of the document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10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Object Methods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9258" y="925484"/>
          <a:ext cx="8077200" cy="499414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Method</a:t>
                      </a:r>
                      <a:endParaRPr lang="en-US" sz="2000" b="1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Description</a:t>
                      </a:r>
                      <a:endParaRPr lang="en-US" sz="2000" b="1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write()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Writes HTML expressions or JavaScript code to a document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writeln</a:t>
                      </a:r>
                      <a:r>
                        <a:rPr lang="en-US" sz="2000" dirty="0"/>
                        <a:t>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Same as write(), but adds a newline character after each statement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open()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Opens an output stream to collect the output from </a:t>
                      </a:r>
                      <a:r>
                        <a:rPr lang="en-US" sz="2000" dirty="0" err="1"/>
                        <a:t>document.write</a:t>
                      </a:r>
                      <a:r>
                        <a:rPr lang="en-US" sz="2000" dirty="0"/>
                        <a:t>() or </a:t>
                      </a:r>
                      <a:r>
                        <a:rPr lang="en-US" sz="2000" dirty="0" err="1"/>
                        <a:t>document.writeln</a:t>
                      </a:r>
                      <a:r>
                        <a:rPr lang="en-US" sz="2000" dirty="0"/>
                        <a:t>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close()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Closes the output stream previously opened with </a:t>
                      </a:r>
                      <a:r>
                        <a:rPr lang="en-US" sz="2000" dirty="0" err="1"/>
                        <a:t>document.open</a:t>
                      </a:r>
                      <a:r>
                        <a:rPr lang="en-US" sz="2000" dirty="0"/>
                        <a:t>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getElementById</a:t>
                      </a:r>
                      <a:r>
                        <a:rPr lang="en-US" sz="2000" dirty="0"/>
                        <a:t>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Accesses element with a specified id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getElementsByName</a:t>
                      </a:r>
                      <a:r>
                        <a:rPr lang="en-US" sz="2000" dirty="0"/>
                        <a:t>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Accesses all elements with a specified name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getElementsByTagName</a:t>
                      </a:r>
                      <a:r>
                        <a:rPr lang="en-US" sz="2000" dirty="0"/>
                        <a:t>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Accesses all elements with a specified tag name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setTimeout</a:t>
                      </a:r>
                      <a:r>
                        <a:rPr lang="en-US" sz="2000" dirty="0"/>
                        <a:t>(),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clearTimeout</a:t>
                      </a:r>
                      <a:r>
                        <a:rPr lang="en-US" sz="2000" dirty="0"/>
                        <a:t>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Set a time period for calling</a:t>
                      </a:r>
                      <a:r>
                        <a:rPr lang="en-US" sz="2000" baseline="0" dirty="0"/>
                        <a:t> a function once; or cancel it.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84197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getElementById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suppose to get the reference of the element from HTML in JavaScript using id specified in the HTML we can use this method.</a:t>
            </a:r>
          </a:p>
          <a:p>
            <a:r>
              <a:rPr lang="en-US" dirty="0"/>
              <a:t>Example :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4040358"/>
            <a:ext cx="7620000" cy="2308324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JavaScript</a:t>
            </a:r>
            <a:endParaRPr lang="en-US" dirty="0"/>
          </a:p>
          <a:p>
            <a:r>
              <a:rPr lang="en-US" dirty="0"/>
              <a:t>&lt;script&gt;</a:t>
            </a:r>
          </a:p>
          <a:p>
            <a:r>
              <a:rPr lang="en-US" dirty="0"/>
              <a:t>    function </a:t>
            </a:r>
            <a:r>
              <a:rPr lang="en-US" dirty="0" err="1"/>
              <a:t>myFunction</a:t>
            </a:r>
            <a:r>
              <a:rPr lang="en-US" dirty="0"/>
              <a:t>()</a:t>
            </a:r>
          </a:p>
          <a:p>
            <a:r>
              <a:rPr lang="en-US" dirty="0"/>
              <a:t>    {</a:t>
            </a:r>
          </a:p>
          <a:p>
            <a:r>
              <a:rPr lang="en-IN" dirty="0"/>
              <a:t>       </a:t>
            </a:r>
            <a:r>
              <a:rPr lang="en-IN" dirty="0" err="1"/>
              <a:t>var</a:t>
            </a:r>
            <a:r>
              <a:rPr lang="en-IN" dirty="0"/>
              <a:t> txt = </a:t>
            </a:r>
            <a:r>
              <a:rPr lang="en-US" dirty="0" err="1"/>
              <a:t>document.</a:t>
            </a:r>
            <a:r>
              <a:rPr lang="en-US" b="1" dirty="0" err="1"/>
              <a:t>getElementById</a:t>
            </a:r>
            <a:r>
              <a:rPr lang="en-US" dirty="0"/>
              <a:t>(“</a:t>
            </a:r>
            <a:r>
              <a:rPr lang="en-US" dirty="0" err="1"/>
              <a:t>myText</a:t>
            </a:r>
            <a:r>
              <a:rPr lang="en-US" dirty="0"/>
              <a:t>”);</a:t>
            </a:r>
          </a:p>
          <a:p>
            <a:r>
              <a:rPr lang="en-US" dirty="0"/>
              <a:t>       alert(</a:t>
            </a:r>
            <a:r>
              <a:rPr lang="en-US" dirty="0" err="1"/>
              <a:t>txt</a:t>
            </a:r>
            <a:r>
              <a:rPr lang="en-US" b="1" dirty="0" err="1"/>
              <a:t>.value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&lt;/script&gt;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133789"/>
            <a:ext cx="3810000" cy="1754326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endParaRPr lang="en-US" dirty="0"/>
          </a:p>
          <a:p>
            <a:r>
              <a:rPr lang="en-US" dirty="0"/>
              <a:t>&lt;html&gt;</a:t>
            </a:r>
          </a:p>
          <a:p>
            <a:r>
              <a:rPr lang="en-US" dirty="0"/>
              <a:t>    &lt;body&gt;</a:t>
            </a:r>
          </a:p>
          <a:p>
            <a:r>
              <a:rPr lang="en-US" dirty="0"/>
              <a:t>        &lt;input type=“text” id=“</a:t>
            </a:r>
            <a:r>
              <a:rPr lang="en-US" dirty="0" err="1"/>
              <a:t>myText</a:t>
            </a:r>
            <a:r>
              <a:rPr lang="en-US" dirty="0"/>
              <a:t>”&gt;</a:t>
            </a:r>
          </a:p>
          <a:p>
            <a:r>
              <a:rPr lang="en-US" dirty="0"/>
              <a:t>    &lt;/body&gt;</a:t>
            </a:r>
          </a:p>
          <a:p>
            <a:r>
              <a:rPr lang="en-US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018764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getElementsByName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suppose to get the reference of the elements from HTML in JavaScript using name specified in the HTML we can use this method.</a:t>
            </a:r>
          </a:p>
          <a:p>
            <a:r>
              <a:rPr lang="en-US" dirty="0"/>
              <a:t>It will return the array of elements with the provided name.</a:t>
            </a:r>
          </a:p>
          <a:p>
            <a:r>
              <a:rPr lang="en-US" dirty="0"/>
              <a:t>Example :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22316" y="2570018"/>
            <a:ext cx="3276600" cy="2031325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endParaRPr lang="en-US" dirty="0"/>
          </a:p>
          <a:p>
            <a:r>
              <a:rPr lang="en-US" dirty="0"/>
              <a:t>&lt;html&gt;</a:t>
            </a:r>
          </a:p>
          <a:p>
            <a:r>
              <a:rPr lang="en-US" dirty="0"/>
              <a:t>    &lt;body&gt;</a:t>
            </a:r>
          </a:p>
          <a:p>
            <a:r>
              <a:rPr lang="en-US" dirty="0"/>
              <a:t>        &lt;input type=“text”          	name=“</a:t>
            </a:r>
            <a:r>
              <a:rPr lang="en-US" dirty="0" err="1"/>
              <a:t>myText</a:t>
            </a:r>
            <a:r>
              <a:rPr lang="en-US" dirty="0"/>
              <a:t>”&gt;</a:t>
            </a:r>
          </a:p>
          <a:p>
            <a:r>
              <a:rPr lang="en-US" dirty="0"/>
              <a:t>    &lt;/body&gt;</a:t>
            </a:r>
          </a:p>
          <a:p>
            <a:r>
              <a:rPr lang="en-US" dirty="0"/>
              <a:t>&lt;/html&gt;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08516" y="2570018"/>
            <a:ext cx="5142808" cy="2308324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JavaScript</a:t>
            </a:r>
            <a:endParaRPr lang="en-US" dirty="0"/>
          </a:p>
          <a:p>
            <a:r>
              <a:rPr lang="en-US" dirty="0"/>
              <a:t>&lt;script&gt;</a:t>
            </a:r>
          </a:p>
          <a:p>
            <a:r>
              <a:rPr lang="en-US" dirty="0"/>
              <a:t>function </a:t>
            </a:r>
            <a:r>
              <a:rPr lang="en-US" dirty="0" err="1"/>
              <a:t>myFunction</a:t>
            </a:r>
            <a:r>
              <a:rPr lang="en-US" dirty="0"/>
              <a:t>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a=</a:t>
            </a:r>
            <a:r>
              <a:rPr lang="en-US" dirty="0" err="1"/>
              <a:t>document.getElementsByName</a:t>
            </a:r>
            <a:r>
              <a:rPr lang="en-US" dirty="0"/>
              <a:t>(“</a:t>
            </a:r>
            <a:r>
              <a:rPr lang="en-US" dirty="0" err="1"/>
              <a:t>myText</a:t>
            </a:r>
            <a:r>
              <a:rPr lang="en-US" dirty="0"/>
              <a:t>”)[0];</a:t>
            </a:r>
          </a:p>
          <a:p>
            <a:r>
              <a:rPr lang="en-US" dirty="0"/>
              <a:t>   alert(</a:t>
            </a:r>
            <a:r>
              <a:rPr lang="en-US" dirty="0" err="1"/>
              <a:t>a.value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16782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getElementsByTagName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suppose to get the reference of the elements from HTML in JavaScript using name of the tag specified in the HTML we can use this method.</a:t>
            </a:r>
          </a:p>
          <a:p>
            <a:r>
              <a:rPr lang="en-US" dirty="0"/>
              <a:t>It will return the array of elements with the provided tag name.</a:t>
            </a:r>
          </a:p>
          <a:p>
            <a:r>
              <a:rPr lang="en-US" dirty="0"/>
              <a:t>Example :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15389" y="2579716"/>
            <a:ext cx="4114800" cy="2031325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endParaRPr lang="en-US" dirty="0"/>
          </a:p>
          <a:p>
            <a:r>
              <a:rPr lang="en-US" dirty="0"/>
              <a:t>&lt;html&gt;</a:t>
            </a:r>
          </a:p>
          <a:p>
            <a:r>
              <a:rPr lang="en-US" dirty="0"/>
              <a:t>    &lt;body&gt;</a:t>
            </a:r>
          </a:p>
          <a:p>
            <a:r>
              <a:rPr lang="en-US" dirty="0"/>
              <a:t>        &lt;input type=“text” name=“</a:t>
            </a:r>
            <a:r>
              <a:rPr lang="en-US" dirty="0" err="1"/>
              <a:t>uname</a:t>
            </a:r>
            <a:r>
              <a:rPr lang="en-US" dirty="0"/>
              <a:t>”&gt;</a:t>
            </a:r>
          </a:p>
          <a:p>
            <a:r>
              <a:rPr lang="en-US" dirty="0"/>
              <a:t>        &lt;input type=“text” name=“</a:t>
            </a:r>
            <a:r>
              <a:rPr lang="en-US" dirty="0" err="1"/>
              <a:t>pword</a:t>
            </a:r>
            <a:r>
              <a:rPr lang="en-US" dirty="0"/>
              <a:t>”&gt;</a:t>
            </a:r>
          </a:p>
          <a:p>
            <a:r>
              <a:rPr lang="en-US" dirty="0"/>
              <a:t>    &lt;/body&gt;</a:t>
            </a:r>
          </a:p>
          <a:p>
            <a:r>
              <a:rPr lang="en-US" dirty="0"/>
              <a:t>&lt;/html&gt;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14398" y="2579716"/>
            <a:ext cx="4724400" cy="2308324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JavaScript</a:t>
            </a:r>
            <a:endParaRPr lang="en-US" dirty="0"/>
          </a:p>
          <a:p>
            <a:r>
              <a:rPr lang="en-US" dirty="0"/>
              <a:t>&lt;script&gt;</a:t>
            </a:r>
          </a:p>
          <a:p>
            <a:r>
              <a:rPr lang="en-US" dirty="0"/>
              <a:t>function </a:t>
            </a:r>
            <a:r>
              <a:rPr lang="en-US" dirty="0" err="1"/>
              <a:t>myFunction</a:t>
            </a:r>
            <a:r>
              <a:rPr lang="en-US" dirty="0"/>
              <a:t>() {</a:t>
            </a:r>
          </a:p>
          <a:p>
            <a:r>
              <a:rPr lang="en-US" dirty="0"/>
              <a:t>  a=</a:t>
            </a:r>
            <a:r>
              <a:rPr lang="en-US" dirty="0" err="1"/>
              <a:t>document.getElementsByTagName</a:t>
            </a:r>
            <a:r>
              <a:rPr lang="en-US" dirty="0"/>
              <a:t>(“input”);</a:t>
            </a:r>
          </a:p>
          <a:p>
            <a:r>
              <a:rPr lang="en-US" dirty="0"/>
              <a:t>  alert(a[0].value);</a:t>
            </a:r>
          </a:p>
          <a:p>
            <a:r>
              <a:rPr lang="en-US" dirty="0"/>
              <a:t>  alert(a[1].value);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78538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 using 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access the elements of form in DOM quite easily using the name/id of the form.</a:t>
            </a:r>
          </a:p>
          <a:p>
            <a:r>
              <a:rPr lang="en-US" dirty="0"/>
              <a:t>Example 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69422" y="1808018"/>
            <a:ext cx="4114800" cy="2862322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endParaRPr lang="en-US" dirty="0"/>
          </a:p>
          <a:p>
            <a:r>
              <a:rPr lang="en-US" dirty="0"/>
              <a:t>&lt;html&gt;</a:t>
            </a:r>
          </a:p>
          <a:p>
            <a:r>
              <a:rPr lang="en-US" dirty="0"/>
              <a:t>    &lt;body&gt;</a:t>
            </a:r>
          </a:p>
          <a:p>
            <a:r>
              <a:rPr lang="en-US" dirty="0"/>
              <a:t>      &lt;form name=“</a:t>
            </a:r>
            <a:r>
              <a:rPr lang="en-US" dirty="0" err="1"/>
              <a:t>myForm</a:t>
            </a:r>
            <a:r>
              <a:rPr lang="en-US" dirty="0"/>
              <a:t>”&gt;</a:t>
            </a:r>
          </a:p>
          <a:p>
            <a:r>
              <a:rPr lang="en-US" dirty="0"/>
              <a:t>        &lt;input type=“text” name=“</a:t>
            </a:r>
            <a:r>
              <a:rPr lang="en-US" dirty="0" err="1"/>
              <a:t>uname</a:t>
            </a:r>
            <a:r>
              <a:rPr lang="en-US" dirty="0"/>
              <a:t>”&gt;</a:t>
            </a:r>
          </a:p>
          <a:p>
            <a:r>
              <a:rPr lang="en-US" dirty="0"/>
              <a:t>        &lt;input type=“text” name=“</a:t>
            </a:r>
            <a:r>
              <a:rPr lang="en-US" dirty="0" err="1"/>
              <a:t>pword</a:t>
            </a:r>
            <a:r>
              <a:rPr lang="en-US" dirty="0"/>
              <a:t>”&gt;</a:t>
            </a:r>
          </a:p>
          <a:p>
            <a:r>
              <a:rPr lang="en-US" dirty="0"/>
              <a:t>        &lt;input type=“button” </a:t>
            </a:r>
            <a:r>
              <a:rPr lang="en-US" dirty="0" err="1"/>
              <a:t>onClick</a:t>
            </a:r>
            <a:r>
              <a:rPr lang="en-US" dirty="0"/>
              <a:t>=“f()”&gt;</a:t>
            </a:r>
          </a:p>
          <a:p>
            <a:r>
              <a:rPr lang="en-US" dirty="0"/>
              <a:t>     &lt;/form&gt;</a:t>
            </a:r>
          </a:p>
          <a:p>
            <a:r>
              <a:rPr lang="en-US" dirty="0"/>
              <a:t>    &lt;/body&gt;</a:t>
            </a:r>
          </a:p>
          <a:p>
            <a:r>
              <a:rPr lang="en-US" dirty="0"/>
              <a:t>&lt;/html&gt;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71011" y="1808018"/>
            <a:ext cx="4114800" cy="4247317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JS</a:t>
            </a:r>
            <a:endParaRPr lang="en-US" dirty="0"/>
          </a:p>
          <a:p>
            <a:r>
              <a:rPr lang="en-US" dirty="0"/>
              <a:t>function f()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</a:t>
            </a:r>
            <a:r>
              <a:rPr lang="en-US" dirty="0" err="1"/>
              <a:t>var</a:t>
            </a:r>
            <a:r>
              <a:rPr lang="en-US" dirty="0"/>
              <a:t> a = </a:t>
            </a:r>
            <a:r>
              <a:rPr lang="en-US" dirty="0" err="1"/>
              <a:t>document.forms</a:t>
            </a:r>
            <a:r>
              <a:rPr lang="en-US" dirty="0"/>
              <a:t>[“</a:t>
            </a:r>
            <a:r>
              <a:rPr lang="en-US" dirty="0" err="1"/>
              <a:t>myForm</a:t>
            </a:r>
            <a:r>
              <a:rPr lang="en-US" dirty="0"/>
              <a:t>”];</a:t>
            </a:r>
          </a:p>
          <a:p>
            <a:r>
              <a:rPr lang="en-US" dirty="0"/>
              <a:t>   </a:t>
            </a:r>
            <a:r>
              <a:rPr lang="en-US" dirty="0" err="1"/>
              <a:t>var</a:t>
            </a:r>
            <a:r>
              <a:rPr lang="en-US" dirty="0"/>
              <a:t> u = </a:t>
            </a:r>
            <a:r>
              <a:rPr lang="en-US" dirty="0" err="1"/>
              <a:t>a.uname.value</a:t>
            </a:r>
            <a:r>
              <a:rPr lang="en-US" dirty="0"/>
              <a:t>;</a:t>
            </a:r>
          </a:p>
          <a:p>
            <a:r>
              <a:rPr lang="en-US" dirty="0"/>
              <a:t>   </a:t>
            </a:r>
            <a:r>
              <a:rPr lang="en-US" dirty="0" err="1"/>
              <a:t>var</a:t>
            </a:r>
            <a:r>
              <a:rPr lang="en-US" dirty="0"/>
              <a:t> p = </a:t>
            </a:r>
            <a:r>
              <a:rPr lang="en-US" dirty="0" err="1"/>
              <a:t>a.pword.value</a:t>
            </a:r>
            <a:r>
              <a:rPr lang="en-US" dirty="0"/>
              <a:t>;</a:t>
            </a:r>
          </a:p>
          <a:p>
            <a:r>
              <a:rPr lang="en-US" dirty="0"/>
              <a:t>   if(u==“admin” &amp;&amp; p==“123”)</a:t>
            </a:r>
          </a:p>
          <a:p>
            <a:r>
              <a:rPr lang="en-US" dirty="0"/>
              <a:t>   {</a:t>
            </a:r>
          </a:p>
          <a:p>
            <a:r>
              <a:rPr lang="en-US" dirty="0"/>
              <a:t>      alert(“valid”);</a:t>
            </a:r>
          </a:p>
          <a:p>
            <a:r>
              <a:rPr lang="en-US" dirty="0"/>
              <a:t>   }</a:t>
            </a:r>
          </a:p>
          <a:p>
            <a:r>
              <a:rPr lang="en-US" dirty="0"/>
              <a:t>   else</a:t>
            </a:r>
          </a:p>
          <a:p>
            <a:r>
              <a:rPr lang="en-US" dirty="0"/>
              <a:t>   {</a:t>
            </a:r>
          </a:p>
          <a:p>
            <a:r>
              <a:rPr lang="en-US" dirty="0"/>
              <a:t>       alert(“Invalid”);</a:t>
            </a:r>
          </a:p>
          <a:p>
            <a:r>
              <a:rPr lang="en-US" dirty="0"/>
              <a:t>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533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DHTML – Combining HTML,CSS &amp; 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DHTML, or Dynamic HTML, is a combination of HTML, JavaScript and CSS.</a:t>
            </a:r>
          </a:p>
          <a:p>
            <a:r>
              <a:rPr lang="en-US" dirty="0"/>
              <a:t>The main problem with DHTML, which was introduced in the 4.0 series of browsers, is </a:t>
            </a:r>
            <a:r>
              <a:rPr lang="en-US" b="1" dirty="0"/>
              <a:t>compatibility</a:t>
            </a:r>
            <a:r>
              <a:rPr lang="en-US" dirty="0"/>
              <a:t>.</a:t>
            </a:r>
          </a:p>
          <a:p>
            <a:r>
              <a:rPr lang="en-US" dirty="0"/>
              <a:t>The main focus generally when speaking of DHTML is animation and other such dynamic effects.</a:t>
            </a:r>
          </a:p>
          <a:p>
            <a:r>
              <a:rPr lang="en-US" dirty="0"/>
              <a:t>We can obtain reference of any HTML or CSS element in </a:t>
            </a:r>
            <a:r>
              <a:rPr lang="en-US" dirty="0" err="1"/>
              <a:t>JavaSCript</a:t>
            </a:r>
            <a:r>
              <a:rPr lang="en-US" dirty="0"/>
              <a:t> using below 3 methods.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document.getElementById</a:t>
            </a:r>
            <a:r>
              <a:rPr lang="en-US" dirty="0"/>
              <a:t>(“</a:t>
            </a:r>
            <a:r>
              <a:rPr lang="en-US" dirty="0" err="1"/>
              <a:t>IdOfElement</a:t>
            </a:r>
            <a:r>
              <a:rPr lang="en-US" dirty="0"/>
              <a:t>”)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document.getElementsByName</a:t>
            </a:r>
            <a:r>
              <a:rPr lang="en-US" dirty="0"/>
              <a:t>(“</a:t>
            </a:r>
            <a:r>
              <a:rPr lang="en-US" dirty="0" err="1"/>
              <a:t>NameOfElement</a:t>
            </a:r>
            <a:r>
              <a:rPr lang="en-US" dirty="0"/>
              <a:t>”)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document.getElementsByTagName</a:t>
            </a:r>
            <a:r>
              <a:rPr lang="en-US" dirty="0"/>
              <a:t>(“</a:t>
            </a:r>
            <a:r>
              <a:rPr lang="en-US" dirty="0" err="1"/>
              <a:t>TagName</a:t>
            </a:r>
            <a:r>
              <a:rPr lang="en-US" dirty="0"/>
              <a:t>”)</a:t>
            </a:r>
          </a:p>
          <a:p>
            <a:pPr marL="514350" indent="-457200"/>
            <a:r>
              <a:rPr lang="en-US" dirty="0"/>
              <a:t>After obtaining the reference of the element you can change the attributes of the same using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reference.attribute</a:t>
            </a:r>
            <a:r>
              <a:rPr lang="en-US" dirty="0"/>
              <a:t> syntax</a:t>
            </a:r>
          </a:p>
          <a:p>
            <a:pPr marL="514350" indent="-457200"/>
            <a:r>
              <a:rPr lang="en-US" dirty="0"/>
              <a:t>For Example :</a:t>
            </a:r>
          </a:p>
          <a:p>
            <a:pPr marL="514350" indent="-457200"/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32905" y="5612200"/>
            <a:ext cx="3429000" cy="923330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 Code</a:t>
            </a:r>
          </a:p>
          <a:p>
            <a:pPr algn="ctr"/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=“abc.jpg” id=“</a:t>
            </a:r>
            <a:r>
              <a:rPr lang="en-US" dirty="0" err="1"/>
              <a:t>myImg</a:t>
            </a:r>
            <a:r>
              <a:rPr lang="en-US" dirty="0"/>
              <a:t>”&gt;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3630" y="4781204"/>
            <a:ext cx="4572000" cy="1754326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JS Code</a:t>
            </a:r>
          </a:p>
          <a:p>
            <a:pPr algn="ctr"/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&lt;script&gt;</a:t>
            </a:r>
          </a:p>
          <a:p>
            <a:r>
              <a:rPr lang="en-US" dirty="0"/>
              <a:t>   </a:t>
            </a:r>
            <a:r>
              <a:rPr lang="en-US" dirty="0" err="1"/>
              <a:t>var</a:t>
            </a:r>
            <a:r>
              <a:rPr lang="en-US" dirty="0"/>
              <a:t> a = </a:t>
            </a:r>
            <a:r>
              <a:rPr lang="en-US" dirty="0" err="1"/>
              <a:t>document.getElementById</a:t>
            </a:r>
            <a:r>
              <a:rPr lang="en-US" dirty="0"/>
              <a:t>(‘</a:t>
            </a:r>
            <a:r>
              <a:rPr lang="en-US" dirty="0" err="1"/>
              <a:t>myImg</a:t>
            </a:r>
            <a:r>
              <a:rPr lang="en-US" dirty="0"/>
              <a:t>’);</a:t>
            </a:r>
          </a:p>
          <a:p>
            <a:r>
              <a:rPr lang="en-US" dirty="0"/>
              <a:t>   </a:t>
            </a:r>
            <a:r>
              <a:rPr lang="en-US" b="1" dirty="0"/>
              <a:t>a.src</a:t>
            </a:r>
            <a:r>
              <a:rPr lang="en-US" dirty="0"/>
              <a:t>  = “xyz.jpg”;</a:t>
            </a:r>
          </a:p>
          <a:p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426106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DHTML (</a:t>
            </a:r>
            <a:r>
              <a:rPr lang="en-US" dirty="0" err="1"/>
              <a:t>Cont</a:t>
            </a:r>
            <a:r>
              <a:rPr lang="en-US" dirty="0"/>
              <a:t>) (Example)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8208" y="1070957"/>
            <a:ext cx="11755584" cy="3970318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JavaScript</a:t>
            </a:r>
            <a:endParaRPr lang="en-US" dirty="0"/>
          </a:p>
          <a:p>
            <a:r>
              <a:rPr lang="en-US" dirty="0">
                <a:latin typeface="Consolas" panose="020B0609020204030204" pitchFamily="49" charset="0"/>
              </a:rPr>
              <a:t>&lt;html&gt;</a:t>
            </a:r>
          </a:p>
          <a:p>
            <a:r>
              <a:rPr lang="en-US" dirty="0">
                <a:latin typeface="Consolas" panose="020B0609020204030204" pitchFamily="49" charset="0"/>
              </a:rPr>
              <a:t>     &lt;body&gt;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&lt;div id=“</a:t>
            </a:r>
            <a:r>
              <a:rPr lang="en-US" dirty="0" err="1">
                <a:latin typeface="Consolas" panose="020B0609020204030204" pitchFamily="49" charset="0"/>
              </a:rPr>
              <a:t>myDiv</a:t>
            </a:r>
            <a:r>
              <a:rPr lang="en-US" dirty="0">
                <a:latin typeface="Consolas" panose="020B0609020204030204" pitchFamily="49" charset="0"/>
              </a:rPr>
              <a:t>”&gt;</a:t>
            </a:r>
          </a:p>
          <a:p>
            <a:r>
              <a:rPr lang="en-US" dirty="0">
                <a:latin typeface="Consolas" panose="020B0609020204030204" pitchFamily="49" charset="0"/>
              </a:rPr>
              <a:t>	Red Alert !!!!!!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&lt;/div&gt;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&lt;script&gt;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</a:t>
            </a:r>
            <a:r>
              <a:rPr lang="en-US" dirty="0" err="1">
                <a:latin typeface="Consolas" panose="020B0609020204030204" pitchFamily="49" charset="0"/>
              </a:rPr>
              <a:t>var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objDiv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document.getElementById</a:t>
            </a:r>
            <a:r>
              <a:rPr lang="en-US" dirty="0">
                <a:latin typeface="Consolas" panose="020B0609020204030204" pitchFamily="49" charset="0"/>
              </a:rPr>
              <a:t>(“</a:t>
            </a:r>
            <a:r>
              <a:rPr lang="en-US" dirty="0" err="1">
                <a:latin typeface="Consolas" panose="020B0609020204030204" pitchFamily="49" charset="0"/>
              </a:rPr>
              <a:t>myDiv</a:t>
            </a:r>
            <a:r>
              <a:rPr lang="en-US" dirty="0">
                <a:latin typeface="Consolas" panose="020B0609020204030204" pitchFamily="49" charset="0"/>
              </a:rPr>
              <a:t>”);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</a:t>
            </a:r>
            <a:r>
              <a:rPr lang="en-US" dirty="0" err="1">
                <a:latin typeface="Consolas" panose="020B0609020204030204" pitchFamily="49" charset="0"/>
              </a:rPr>
              <a:t>var</a:t>
            </a:r>
            <a:r>
              <a:rPr lang="en-US" dirty="0">
                <a:latin typeface="Consolas" panose="020B0609020204030204" pitchFamily="49" charset="0"/>
              </a:rPr>
              <a:t> colors = [‘</a:t>
            </a:r>
            <a:r>
              <a:rPr lang="en-US" dirty="0" err="1">
                <a:latin typeface="Consolas" panose="020B0609020204030204" pitchFamily="49" charset="0"/>
              </a:rPr>
              <a:t>white’,’yellow’,’orange’,’red</a:t>
            </a:r>
            <a:r>
              <a:rPr lang="en-US" dirty="0">
                <a:latin typeface="Consolas" panose="020B0609020204030204" pitchFamily="49" charset="0"/>
              </a:rPr>
              <a:t>’];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</a:t>
            </a:r>
            <a:r>
              <a:rPr lang="en-US" dirty="0" err="1">
                <a:latin typeface="Consolas" panose="020B0609020204030204" pitchFamily="49" charset="0"/>
              </a:rPr>
              <a:t>var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nextColor</a:t>
            </a:r>
            <a:r>
              <a:rPr lang="en-US" dirty="0">
                <a:latin typeface="Consolas" panose="020B0609020204030204" pitchFamily="49" charset="0"/>
              </a:rPr>
              <a:t> = 0;</a:t>
            </a:r>
          </a:p>
          <a:p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 err="1">
                <a:latin typeface="Consolas" panose="020B0609020204030204" pitchFamily="49" charset="0"/>
              </a:rPr>
              <a:t>setInterval</a:t>
            </a:r>
            <a:r>
              <a:rPr lang="en-US" dirty="0">
                <a:latin typeface="Consolas" panose="020B0609020204030204" pitchFamily="49" charset="0"/>
              </a:rPr>
              <a:t>(“</a:t>
            </a:r>
            <a:r>
              <a:rPr lang="en-US" dirty="0" err="1">
                <a:latin typeface="Consolas" panose="020B0609020204030204" pitchFamily="49" charset="0"/>
              </a:rPr>
              <a:t>objDiv.style.backgroundColor</a:t>
            </a:r>
            <a:r>
              <a:rPr lang="en-US" dirty="0">
                <a:latin typeface="Consolas" panose="020B0609020204030204" pitchFamily="49" charset="0"/>
              </a:rPr>
              <a:t> = colors[</a:t>
            </a:r>
            <a:r>
              <a:rPr lang="en-US" dirty="0" err="1">
                <a:latin typeface="Consolas" panose="020B0609020204030204" pitchFamily="49" charset="0"/>
              </a:rPr>
              <a:t>nextColor</a:t>
            </a:r>
            <a:r>
              <a:rPr lang="en-US" dirty="0">
                <a:latin typeface="Consolas" panose="020B0609020204030204" pitchFamily="49" charset="0"/>
              </a:rPr>
              <a:t>++%</a:t>
            </a:r>
            <a:r>
              <a:rPr lang="en-US" dirty="0" err="1">
                <a:latin typeface="Consolas" panose="020B0609020204030204" pitchFamily="49" charset="0"/>
              </a:rPr>
              <a:t>colors.length</a:t>
            </a:r>
            <a:r>
              <a:rPr lang="en-US" dirty="0">
                <a:latin typeface="Consolas" panose="020B0609020204030204" pitchFamily="49" charset="0"/>
              </a:rPr>
              <a:t>];”,500);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&lt;/script&gt;</a:t>
            </a:r>
          </a:p>
          <a:p>
            <a:r>
              <a:rPr lang="en-US" dirty="0">
                <a:latin typeface="Consolas" panose="020B0609020204030204" pitchFamily="49" charset="0"/>
              </a:rPr>
              <a:t>     &lt;/body&gt;</a:t>
            </a:r>
          </a:p>
          <a:p>
            <a:r>
              <a:rPr lang="en-US" dirty="0"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747943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Element Properties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7570" y="1001683"/>
          <a:ext cx="8077200" cy="2966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className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Sets or returns the class attribute of an element</a:t>
                      </a:r>
                      <a:endParaRPr lang="en-US" sz="1800" dirty="0">
                        <a:latin typeface="+mn-lt"/>
                        <a:ea typeface="Calibri"/>
                        <a:cs typeface="Shrut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id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Sets or returns the id of an element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innerHTML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Sets or returns the HTML contents (+text) of an element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style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Sets or returns the style attribute of an element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tabIndex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Sets or returns the tab order of an element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title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Sets or returns the title attribute of an element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/>
                        <a:t>value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Sets or returns the value attribute of an element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353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Mouse Events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9258" y="1001684"/>
          <a:ext cx="7924801" cy="4851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/>
                        <a:t>click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/>
                        <a:t>onclick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/>
                        <a:t>The event occurs when the user clicks on an element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/>
                        <a:t>dblclick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/>
                        <a:t>ondblclick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/>
                        <a:t>The event occurs when the user double-clicks on an element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/>
                        <a:t>mousedown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/>
                        <a:t>onmousedown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/>
                        <a:t>The event occurs when a user presses a mouse button over an element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/>
                        <a:t>mousemove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/>
                        <a:t>onmousemove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/>
                        <a:t>The event occurs when a user moves the mouse pointer over an element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/>
                        <a:t>mouseover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/>
                        <a:t>onmouseover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/>
                        <a:t>The event occurs when a user mouse over an element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/>
                        <a:t>mouseout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/>
                        <a:t>onmouseout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/>
                        <a:t>The event occurs when a user moves the mouse pointer out of an element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/>
                        <a:t>mouseup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/>
                        <a:t>onmouseup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/>
                        <a:t>The event occurs when a user releases a mouse button over an element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270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Keyboard Events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32757" y="943495"/>
          <a:ext cx="7924801" cy="2021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keydown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onkeydown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The event occurs when the user is pressing a key or holding down a key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keypress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onkeypress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The event occurs when the user is pressing a key or holding down a key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keyup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onkeyup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The event occurs when a keyboard key is released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42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Frame/Object Events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64766" y="955040"/>
          <a:ext cx="7924801" cy="44856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abort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onabort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The event occurs when an image is stopped from loading before completely loaded (for &lt;object&gt;)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error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onerror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The event occurs when an image does not load properly (for &lt;object&gt;, &lt;body&gt; and &lt;frameset&gt;)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load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onload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The event occurs when a document, frameset, or &lt;object&gt; has been loaded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resize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onresize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The event occurs when a document view is resized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scroll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onscroll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The event occurs when a document view is scrolled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/>
                        <a:t>unload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onunload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The event occurs when a document is removed from a window or frame (for &lt;body&gt; and &lt;frameset&gt;)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68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Events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56454" y="971665"/>
          <a:ext cx="7924801" cy="39471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blur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onblur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The event occurs when a form element loses focus</a:t>
                      </a:r>
                      <a:endParaRPr lang="en-US" sz="1800" dirty="0">
                        <a:latin typeface="+mn-lt"/>
                        <a:ea typeface="Calibri"/>
                        <a:cs typeface="Shrut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change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onchange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The event occurs when the content of a form element, the selection, or the checked state have changed (for &lt;input&gt;, &lt;select&gt;, and &lt;</a:t>
                      </a:r>
                      <a:r>
                        <a:rPr lang="en-US" sz="1800" dirty="0" err="1"/>
                        <a:t>textarea</a:t>
                      </a:r>
                      <a:r>
                        <a:rPr lang="en-US" sz="1800" dirty="0"/>
                        <a:t>&gt;)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focus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onfocus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The event occurs when an element gets focus (for &lt;label&gt;, &lt;input&gt;, &lt;select&gt;, </a:t>
                      </a:r>
                      <a:r>
                        <a:rPr lang="en-US" sz="1800" dirty="0" err="1"/>
                        <a:t>textarea</a:t>
                      </a:r>
                      <a:r>
                        <a:rPr lang="en-US" sz="1800" dirty="0"/>
                        <a:t>&gt;, and &lt;button&gt;)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reset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onreset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The event occurs when a form is reset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select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onselect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The event occurs when a user selects some  text (for &lt;input&gt; and &lt;</a:t>
                      </a:r>
                      <a:r>
                        <a:rPr lang="en-US" sz="1800" dirty="0" err="1"/>
                        <a:t>textarea</a:t>
                      </a:r>
                      <a:r>
                        <a:rPr lang="en-US" sz="1800" dirty="0"/>
                        <a:t>&gt;)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submit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 err="1"/>
                        <a:t>onsubmit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dirty="0"/>
                        <a:t>The event occurs when a form is submitted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027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Callbacks in </a:t>
            </a:r>
            <a:r>
              <a:rPr lang="en-US" dirty="0" err="1"/>
              <a:t>Javascript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callback function is a function passed into another function as an argument, which is then invoked inside the outer function to complete some kind of routine or action.</a:t>
            </a:r>
          </a:p>
          <a:p>
            <a:r>
              <a:rPr lang="en-US" dirty="0"/>
              <a:t>For example, Using a callback, you could call the calculator function (</a:t>
            </a:r>
            <a:r>
              <a:rPr lang="en-US" dirty="0" err="1"/>
              <a:t>myCalculator</a:t>
            </a:r>
            <a:r>
              <a:rPr lang="en-US" dirty="0"/>
              <a:t>) with a callback, and let the calculator function run the callback after the calculation is finished: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368" y="2550623"/>
            <a:ext cx="11424021" cy="3139321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JavaScript</a:t>
            </a:r>
            <a:endParaRPr lang="en-US" dirty="0"/>
          </a:p>
          <a:p>
            <a:r>
              <a:rPr lang="en-US" dirty="0">
                <a:latin typeface="Consolas" panose="020B0609020204030204" pitchFamily="49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</a:rPr>
              <a:t>printResult</a:t>
            </a:r>
            <a:r>
              <a:rPr lang="en-US" dirty="0">
                <a:latin typeface="Consolas" panose="020B0609020204030204" pitchFamily="49" charset="0"/>
              </a:rPr>
              <a:t>(some) {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document.getElementById</a:t>
            </a:r>
            <a:r>
              <a:rPr lang="en-US" dirty="0">
                <a:latin typeface="Consolas" panose="020B0609020204030204" pitchFamily="49" charset="0"/>
              </a:rPr>
              <a:t>("demo").</a:t>
            </a:r>
            <a:r>
              <a:rPr lang="en-US" dirty="0" err="1">
                <a:latin typeface="Consolas" panose="020B0609020204030204" pitchFamily="49" charset="0"/>
              </a:rPr>
              <a:t>innerHTML</a:t>
            </a:r>
            <a:r>
              <a:rPr lang="en-US" dirty="0">
                <a:latin typeface="Consolas" panose="020B0609020204030204" pitchFamily="49" charset="0"/>
              </a:rPr>
              <a:t> = some;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</a:rPr>
              <a:t>myCalculator</a:t>
            </a:r>
            <a:r>
              <a:rPr lang="en-US" dirty="0">
                <a:latin typeface="Consolas" panose="020B0609020204030204" pitchFamily="49" charset="0"/>
              </a:rPr>
              <a:t>(num1, num2, </a:t>
            </a:r>
            <a:r>
              <a:rPr lang="en-US" dirty="0" err="1">
                <a:latin typeface="Consolas" panose="020B0609020204030204" pitchFamily="49" charset="0"/>
              </a:rPr>
              <a:t>myCallback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</a:rPr>
              <a:t>  let sum = num1 + num2;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myCallback</a:t>
            </a:r>
            <a:r>
              <a:rPr lang="en-US" dirty="0">
                <a:latin typeface="Consolas" panose="020B0609020204030204" pitchFamily="49" charset="0"/>
              </a:rPr>
              <a:t>(sum);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myCalculator</a:t>
            </a:r>
            <a:r>
              <a:rPr lang="en-US" dirty="0">
                <a:latin typeface="Consolas" panose="020B0609020204030204" pitchFamily="49" charset="0"/>
              </a:rPr>
              <a:t>(5, 5, </a:t>
            </a:r>
            <a:r>
              <a:rPr lang="en-US" dirty="0" err="1">
                <a:latin typeface="Consolas" panose="020B0609020204030204" pitchFamily="49" charset="0"/>
              </a:rPr>
              <a:t>printResult</a:t>
            </a:r>
            <a:r>
              <a:rPr lang="en-US" dirty="0"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319332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4550</TotalTime>
  <Words>3808</Words>
  <Application>Microsoft Office PowerPoint</Application>
  <PresentationFormat>Widescreen</PresentationFormat>
  <Paragraphs>717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Wingdings</vt:lpstr>
      <vt:lpstr>Calibri</vt:lpstr>
      <vt:lpstr>Roboto Condensed Light</vt:lpstr>
      <vt:lpstr>Consolas</vt:lpstr>
      <vt:lpstr>Segoe UI Black</vt:lpstr>
      <vt:lpstr>Roboto Condensed</vt:lpstr>
      <vt:lpstr>Shruti</vt:lpstr>
      <vt:lpstr>Arial</vt:lpstr>
      <vt:lpstr>Wingdings 3</vt:lpstr>
      <vt:lpstr>Wingdings 2</vt:lpstr>
      <vt:lpstr>Office Theme</vt:lpstr>
      <vt:lpstr>Unit-01  JS</vt:lpstr>
      <vt:lpstr>PowerPoint Presentation</vt:lpstr>
      <vt:lpstr>Introduction</vt:lpstr>
      <vt:lpstr>Pros &amp; Cons of Client Side Scripting</vt:lpstr>
      <vt:lpstr>Client V/S Server Side Scripting</vt:lpstr>
      <vt:lpstr>&lt;script&gt; tag</vt:lpstr>
      <vt:lpstr>Variables</vt:lpstr>
      <vt:lpstr>Conditions and Loops</vt:lpstr>
      <vt:lpstr>Strings</vt:lpstr>
      <vt:lpstr>Strings (Cont.)</vt:lpstr>
      <vt:lpstr>Arrays</vt:lpstr>
      <vt:lpstr>Functions</vt:lpstr>
      <vt:lpstr>Functions (Cont.)</vt:lpstr>
      <vt:lpstr>Pop up Boxes</vt:lpstr>
      <vt:lpstr>Alert Box</vt:lpstr>
      <vt:lpstr>Confirm Box</vt:lpstr>
      <vt:lpstr>Prompt Box</vt:lpstr>
      <vt:lpstr>External JavaScript</vt:lpstr>
      <vt:lpstr>JavaScript Objects</vt:lpstr>
      <vt:lpstr>JavaScript’s inbuilt Objects</vt:lpstr>
      <vt:lpstr>Math Object in JavaScript</vt:lpstr>
      <vt:lpstr>Math Methods</vt:lpstr>
      <vt:lpstr>User Defined Objects</vt:lpstr>
      <vt:lpstr>User - Defined Objects (Cont.)</vt:lpstr>
      <vt:lpstr>Validation</vt:lpstr>
      <vt:lpstr>Validation (Cont.)</vt:lpstr>
      <vt:lpstr>Validation using RegExp</vt:lpstr>
      <vt:lpstr>RegExp (Cont.) (Metacharacters)</vt:lpstr>
      <vt:lpstr>RegExp (Cont.) (Quantifiers)</vt:lpstr>
      <vt:lpstr>Email Validation Using RegExp</vt:lpstr>
      <vt:lpstr>Document Object Model (DOM)</vt:lpstr>
      <vt:lpstr>DOM (Cont)</vt:lpstr>
      <vt:lpstr>Document Object Properties</vt:lpstr>
      <vt:lpstr>Document Object Methods</vt:lpstr>
      <vt:lpstr>getElementById()</vt:lpstr>
      <vt:lpstr>getElementsByName()</vt:lpstr>
      <vt:lpstr>getElementsByTagName()</vt:lpstr>
      <vt:lpstr>Forms using DOM</vt:lpstr>
      <vt:lpstr>DHTML – Combining HTML,CSS &amp; JS</vt:lpstr>
      <vt:lpstr>DHTML (Cont) (Example)</vt:lpstr>
      <vt:lpstr>HTML Element Properties</vt:lpstr>
      <vt:lpstr>Mouse Events</vt:lpstr>
      <vt:lpstr>Keyboard Events</vt:lpstr>
      <vt:lpstr>Frame/Object Events</vt:lpstr>
      <vt:lpstr>Form Events</vt:lpstr>
      <vt:lpstr>Callbacks in Javascript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715</cp:revision>
  <dcterms:created xsi:type="dcterms:W3CDTF">2020-05-01T05:09:15Z</dcterms:created>
  <dcterms:modified xsi:type="dcterms:W3CDTF">2026-06-13T07:33:23Z</dcterms:modified>
</cp:coreProperties>
</file>